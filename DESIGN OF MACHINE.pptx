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19"/>
  </p:notesMasterIdLst>
  <p:sldIdLst>
    <p:sldId id="256" r:id="rId2"/>
    <p:sldId id="257" r:id="rId3"/>
    <p:sldId id="258" r:id="rId4"/>
    <p:sldId id="259" r:id="rId5"/>
    <p:sldId id="261" r:id="rId6"/>
    <p:sldId id="263" r:id="rId7"/>
    <p:sldId id="264" r:id="rId8"/>
    <p:sldId id="265" r:id="rId9"/>
    <p:sldId id="266" r:id="rId10"/>
    <p:sldId id="268" r:id="rId11"/>
    <p:sldId id="289" r:id="rId12"/>
    <p:sldId id="291" r:id="rId13"/>
    <p:sldId id="292" r:id="rId14"/>
    <p:sldId id="276" r:id="rId15"/>
    <p:sldId id="277" r:id="rId16"/>
    <p:sldId id="284" r:id="rId17"/>
    <p:sldId id="281" r:id="rId18"/>
  </p:sldIdLst>
  <p:sldSz cx="9144000" cy="5143500" type="screen16x9"/>
  <p:notesSz cx="6858000" cy="9144000"/>
  <p:embeddedFontLst>
    <p:embeddedFont>
      <p:font typeface="Economica" panose="020B0604020202020204" charset="0"/>
      <p:regular r:id="rId20"/>
      <p:bold r:id="rId21"/>
      <p:italic r:id="rId22"/>
      <p:boldItalic r:id="rId23"/>
    </p:embeddedFont>
    <p:embeddedFont>
      <p:font typeface="Cambria Math" panose="02040503050406030204" pitchFamily="18" charset="0"/>
      <p:regular r:id="rId24"/>
    </p:embeddedFont>
    <p:embeddedFont>
      <p:font typeface="Open Sans" panose="020B0604020202020204" charset="0"/>
      <p:regular r:id="rId25"/>
      <p:bold r:id="rId26"/>
      <p:italic r:id="rId27"/>
      <p:boldItalic r:id="rId28"/>
    </p:embeddedFont>
    <p:embeddedFont>
      <p:font typeface="Jacques Francois Shadow" panose="020B0604020202020204"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B5477E-8593-4DE8-8D7B-4776BF437886}">
  <a:tblStyle styleId="{DEB5477E-8593-4DE8-8D7B-4776BF437886}" styleName="Table_0">
    <a:wholeTbl>
      <a:tcTxStyle b="off" i="off">
        <a:font>
          <a:latin typeface="Arial"/>
          <a:ea typeface="Arial"/>
          <a:cs typeface="Arial"/>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12700" cap="flat" cmpd="sng">
              <a:solidFill>
                <a:schemeClr val="accent6"/>
              </a:solidFill>
              <a:prstDash val="solid"/>
              <a:round/>
              <a:headEnd type="none" w="sm" len="sm"/>
              <a:tailEnd type="none" w="sm" len="sm"/>
            </a:ln>
          </a:insideV>
        </a:tcBdr>
        <a:fill>
          <a:solidFill>
            <a:srgbClr val="F8FAE9"/>
          </a:solidFill>
        </a:fill>
      </a:tcStyle>
    </a:wholeTbl>
    <a:band1H>
      <a:tcTxStyle/>
      <a:tcStyle>
        <a:tcBdr/>
        <a:fill>
          <a:solidFill>
            <a:srgbClr val="F2F6D0"/>
          </a:solidFill>
        </a:fill>
      </a:tcStyle>
    </a:band1H>
    <a:band2H>
      <a:tcTxStyle/>
      <a:tcStyle>
        <a:tcBdr/>
      </a:tcStyle>
    </a:band2H>
    <a:band1V>
      <a:tcTxStyle/>
      <a:tcStyle>
        <a:tcBdr/>
        <a:fill>
          <a:solidFill>
            <a:srgbClr val="F2F6D0"/>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6"/>
              </a:solidFill>
              <a:prstDash val="solid"/>
              <a:round/>
              <a:headEnd type="none" w="sm" len="sm"/>
              <a:tailEnd type="none" w="sm" len="sm"/>
            </a:ln>
          </a:top>
        </a:tcBdr>
        <a:fill>
          <a:solidFill>
            <a:srgbClr val="F8FAE9"/>
          </a:solidFill>
        </a:fill>
      </a:tcStyle>
    </a:lastRow>
    <a:seCell>
      <a:tcTxStyle/>
      <a:tcStyle>
        <a:tcBdr/>
      </a:tcStyle>
    </a:seCell>
    <a:swCell>
      <a:tcTxStyle/>
      <a:tcStyle>
        <a:tcBdr/>
      </a:tcStyle>
    </a:swCell>
    <a:firstRow>
      <a:tcTxStyle b="on" i="off"/>
      <a:tcStyle>
        <a:tcBdr/>
        <a:fill>
          <a:solidFill>
            <a:srgbClr val="F8FAE9"/>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8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a7b61065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a7b61065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1976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a7b61065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a7b61065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1944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a7b61065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a7b61065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666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a7b610657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2a7b6106575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a7b6106575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2a7b6106575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3"/>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5"/>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4" name="Google Shape;24;p5"/>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5" name="Google Shape;25;p5"/>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6" name="Google Shape;26;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9" name="Google Shape;29;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4" name="Google Shape;34;p7"/>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8"/>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9" name="Google Shape;39;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2" name="Google Shape;42;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3" name="Google Shape;43;p9"/>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4" name="Google Shape;44;p9"/>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5" name="Google Shape;45;p9"/>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46" name="Google Shape;4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49" name="Google Shape;49;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11"/>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3" name="Google Shape;53;p11"/>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4" name="Google Shape;5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2"/>
          <p:cNvSpPr txBox="1">
            <a:spLocks noGrp="1"/>
          </p:cNvSpPr>
          <p:nvPr>
            <p:ph type="ctrTitle"/>
          </p:nvPr>
        </p:nvSpPr>
        <p:spPr>
          <a:xfrm>
            <a:off x="3044690" y="1803159"/>
            <a:ext cx="3054600" cy="15372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US">
                <a:latin typeface="Arial"/>
                <a:ea typeface="Arial"/>
                <a:cs typeface="Arial"/>
                <a:sym typeface="Arial"/>
              </a:rPr>
              <a:t>بِسْمِ اللهِ الرَّحْمٰنِ الرَّحِيْم</a:t>
            </a:r>
            <a:r>
              <a:rPr lang="en-US"/>
              <a:t>ِ</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084750" y="2429200"/>
            <a:ext cx="2974500" cy="1181400"/>
          </a:xfrm>
          <a:prstGeom prst="rect">
            <a:avLst/>
          </a:prstGeom>
          <a:noFill/>
          <a:ln>
            <a:noFill/>
          </a:ln>
        </p:spPr>
        <p:txBody>
          <a:bodyPr spcFirstLastPara="1" wrap="square" lIns="91425" tIns="91425" rIns="91425" bIns="91425" anchor="b" anchorCtr="0">
            <a:normAutofit fontScale="90000"/>
          </a:bodyPr>
          <a:lstStyle/>
          <a:p>
            <a:pPr>
              <a:buSzPct val="206557"/>
            </a:pPr>
            <a:r>
              <a:rPr lang="en-US" sz="2000" b="1" dirty="0" smtClean="0">
                <a:latin typeface="Times New Roman" panose="02020603050405020304" pitchFamily="18" charset="0"/>
                <a:cs typeface="Times New Roman" panose="02020603050405020304" pitchFamily="18" charset="0"/>
              </a:rPr>
              <a:t>DESIGN OF MACHINES</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b="1" u="sng" dirty="0" smtClean="0">
                <a:latin typeface="Times New Roman" panose="02020603050405020304" pitchFamily="18" charset="0"/>
                <a:ea typeface="Arial"/>
                <a:cs typeface="Times New Roman" panose="02020603050405020304" pitchFamily="18" charset="0"/>
                <a:sym typeface="Arial"/>
              </a:rPr>
              <a:t/>
            </a:r>
            <a:br>
              <a:rPr lang="en-US" sz="2000" b="1" u="sng" dirty="0" smtClean="0">
                <a:latin typeface="Times New Roman" panose="02020603050405020304" pitchFamily="18" charset="0"/>
                <a:ea typeface="Arial"/>
                <a:cs typeface="Times New Roman" panose="02020603050405020304" pitchFamily="18" charset="0"/>
                <a:sym typeface="Arial"/>
              </a:rPr>
            </a:br>
            <a:r>
              <a:rPr lang="en-US" sz="2033" b="1" u="sng" dirty="0" smtClean="0">
                <a:latin typeface="Times New Roman" panose="02020603050405020304" pitchFamily="18" charset="0"/>
                <a:ea typeface="Arial"/>
                <a:cs typeface="Times New Roman" panose="02020603050405020304" pitchFamily="18" charset="0"/>
                <a:sym typeface="Arial"/>
              </a:rPr>
              <a:t>PRESENTATION</a:t>
            </a:r>
            <a:br>
              <a:rPr lang="en-US" sz="2033" b="1" u="sng" dirty="0" smtClean="0">
                <a:latin typeface="Times New Roman" panose="02020603050405020304" pitchFamily="18" charset="0"/>
                <a:ea typeface="Arial"/>
                <a:cs typeface="Times New Roman" panose="02020603050405020304" pitchFamily="18" charset="0"/>
                <a:sym typeface="Arial"/>
              </a:rPr>
            </a:br>
            <a:r>
              <a:rPr lang="en-US" sz="2033" b="1" u="sng" dirty="0">
                <a:latin typeface="Times New Roman" panose="02020603050405020304" pitchFamily="18" charset="0"/>
                <a:ea typeface="Arial"/>
                <a:cs typeface="Times New Roman" panose="02020603050405020304" pitchFamily="18" charset="0"/>
                <a:sym typeface="Arial"/>
              </a:rPr>
              <a:t/>
            </a:r>
            <a:br>
              <a:rPr lang="en-US" sz="2033" b="1" u="sng" dirty="0">
                <a:latin typeface="Times New Roman" panose="02020603050405020304" pitchFamily="18" charset="0"/>
                <a:ea typeface="Arial"/>
                <a:cs typeface="Times New Roman" panose="02020603050405020304" pitchFamily="18" charset="0"/>
                <a:sym typeface="Arial"/>
              </a:rPr>
            </a:br>
            <a:r>
              <a:rPr lang="en-US" sz="2000" b="1" dirty="0" smtClean="0">
                <a:latin typeface="Times New Roman" panose="02020603050405020304" pitchFamily="18" charset="0"/>
                <a:cs typeface="Times New Roman" panose="02020603050405020304" pitchFamily="18" charset="0"/>
              </a:rPr>
              <a:t>ZIP </a:t>
            </a:r>
            <a:r>
              <a:rPr lang="en-US" sz="2000" b="1" dirty="0">
                <a:latin typeface="Times New Roman" panose="02020603050405020304" pitchFamily="18" charset="0"/>
                <a:cs typeface="Times New Roman" panose="02020603050405020304" pitchFamily="18" charset="0"/>
              </a:rPr>
              <a:t>LINE PULLY MECHANISM</a:t>
            </a:r>
            <a:r>
              <a:rPr lang="en-US" sz="2000" dirty="0">
                <a:latin typeface="+mj-lt"/>
                <a:cs typeface="Times New Roman" panose="02020603050405020304" pitchFamily="18" charset="0"/>
              </a:rPr>
              <a:t/>
            </a:r>
            <a:br>
              <a:rPr lang="en-US" sz="2000" dirty="0">
                <a:latin typeface="+mj-lt"/>
                <a:cs typeface="Times New Roman" panose="02020603050405020304" pitchFamily="18" charset="0"/>
              </a:rPr>
            </a:br>
            <a:endParaRPr sz="2000" b="1" u="sng" dirty="0">
              <a:latin typeface="+mj-lt"/>
              <a:ea typeface="Arial"/>
              <a:cs typeface="Times New Roman" panose="02020603050405020304" pitchFamily="18" charset="0"/>
              <a:sym typeface="Arial"/>
            </a:endParaRPr>
          </a:p>
        </p:txBody>
      </p:sp>
      <p:sp>
        <p:nvSpPr>
          <p:cNvPr id="65" name="Google Shape;65;p13"/>
          <p:cNvSpPr/>
          <p:nvPr/>
        </p:nvSpPr>
        <p:spPr>
          <a:xfrm>
            <a:off x="935400" y="4897201"/>
            <a:ext cx="7273200" cy="246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subTitle" idx="1"/>
          </p:nvPr>
        </p:nvSpPr>
        <p:spPr>
          <a:xfrm>
            <a:off x="2701158" y="1539806"/>
            <a:ext cx="4824247" cy="1120345"/>
          </a:xfrm>
          <a:prstGeom prst="rect">
            <a:avLst/>
          </a:prstGeom>
          <a:noFill/>
          <a:ln>
            <a:noFill/>
          </a:ln>
        </p:spPr>
        <p:txBody>
          <a:bodyPr spcFirstLastPara="1" wrap="square" lIns="91425" tIns="91425" rIns="91425" bIns="91425" anchor="t" anchorCtr="0">
            <a:noAutofit/>
          </a:bodyPr>
          <a:lstStyle/>
          <a:p>
            <a:pPr algn="l"/>
            <a:r>
              <a:rPr lang="en-US" sz="1400" b="1" dirty="0" smtClean="0">
                <a:latin typeface="+mn-lt"/>
                <a:ea typeface="Arial"/>
                <a:cs typeface="Arial"/>
                <a:sym typeface="Arial"/>
              </a:rPr>
              <a:t>  </a:t>
            </a:r>
            <a:r>
              <a:rPr lang="en-US" sz="1200" b="1" dirty="0" smtClean="0">
                <a:latin typeface="Times New Roman" panose="02020603050405020304" pitchFamily="18" charset="0"/>
                <a:ea typeface="Arial"/>
                <a:cs typeface="Times New Roman" panose="02020603050405020304" pitchFamily="18" charset="0"/>
                <a:sym typeface="Arial"/>
              </a:rPr>
              <a:t>FATIMA NAZIR		 (</a:t>
            </a:r>
            <a:r>
              <a:rPr lang="en-US" sz="1200" b="1" dirty="0" smtClean="0">
                <a:latin typeface="Times New Roman" panose="02020603050405020304" pitchFamily="18" charset="0"/>
                <a:ea typeface="Arial"/>
                <a:cs typeface="Times New Roman" panose="02020603050405020304" pitchFamily="18" charset="0"/>
                <a:sym typeface="Arial"/>
              </a:rPr>
              <a:t>201901)</a:t>
            </a:r>
            <a:endParaRPr lang="en-US" sz="1200" b="1" dirty="0">
              <a:latin typeface="Times New Roman" panose="02020603050405020304" pitchFamily="18" charset="0"/>
              <a:ea typeface="Arial"/>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SYED QAMAR ABBAS </a:t>
            </a:r>
            <a:r>
              <a:rPr lang="en-US" sz="1200" b="1" dirty="0" smtClean="0">
                <a:latin typeface="Times New Roman" panose="02020603050405020304" pitchFamily="18" charset="0"/>
                <a:cs typeface="Times New Roman" panose="02020603050405020304" pitchFamily="18" charset="0"/>
              </a:rPr>
              <a:t>	 (201151)</a:t>
            </a:r>
          </a:p>
          <a:p>
            <a:pPr algn="l"/>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MOEEZ SAQIB</a:t>
            </a:r>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(201178)</a:t>
            </a:r>
          </a:p>
          <a:p>
            <a:pPr algn="l"/>
            <a:r>
              <a:rPr lang="en-US" sz="1200" b="1" dirty="0">
                <a:latin typeface="Times New Roman" panose="02020603050405020304" pitchFamily="18" charset="0"/>
                <a:cs typeface="Times New Roman" panose="02020603050405020304" pitchFamily="18" charset="0"/>
              </a:rPr>
              <a:t> </a:t>
            </a:r>
          </a:p>
          <a:p>
            <a:pPr marL="0" lvl="0" indent="0" algn="ctr" rtl="0">
              <a:lnSpc>
                <a:spcPct val="100000"/>
              </a:lnSpc>
              <a:spcBef>
                <a:spcPts val="0"/>
              </a:spcBef>
              <a:spcAft>
                <a:spcPts val="0"/>
              </a:spcAft>
              <a:buSzPts val="2100"/>
              <a:buNone/>
            </a:pPr>
            <a:endParaRPr sz="1700" b="1" u="sng" dirty="0">
              <a:latin typeface="Jacques Francois Shadow"/>
              <a:ea typeface="Jacques Francois Shadow"/>
              <a:cs typeface="Jacques Francois Shadow"/>
              <a:sym typeface="Jacques Francois Shadow"/>
            </a:endParaRPr>
          </a:p>
          <a:p>
            <a:pPr marL="457200" lvl="0" indent="-342900" algn="l" rtl="0">
              <a:lnSpc>
                <a:spcPct val="100000"/>
              </a:lnSpc>
              <a:spcBef>
                <a:spcPts val="280"/>
              </a:spcBef>
              <a:spcAft>
                <a:spcPts val="0"/>
              </a:spcAft>
              <a:buSzPts val="2100"/>
              <a:buNone/>
            </a:pPr>
            <a:endParaRPr dirty="0"/>
          </a:p>
        </p:txBody>
      </p:sp>
      <p:sp>
        <p:nvSpPr>
          <p:cNvPr id="71" name="Google Shape;71;p14"/>
          <p:cNvSpPr/>
          <p:nvPr/>
        </p:nvSpPr>
        <p:spPr>
          <a:xfrm>
            <a:off x="3750291" y="1034962"/>
            <a:ext cx="2429792"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600" b="1" i="0" u="sng" strike="noStrike" cap="none" dirty="0" smtClean="0">
                <a:solidFill>
                  <a:srgbClr val="000000"/>
                </a:solidFill>
                <a:latin typeface="Times New Roman" panose="02020603050405020304" pitchFamily="18" charset="0"/>
                <a:cs typeface="Times New Roman" panose="02020603050405020304" pitchFamily="18" charset="0"/>
                <a:sym typeface="Arial"/>
              </a:rPr>
              <a:t>PRESENTED BY:</a:t>
            </a:r>
            <a:endParaRPr lang="en-US" sz="1600" b="1" i="0" u="sng"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2" name="Google Shape;72;p14"/>
          <p:cNvSpPr/>
          <p:nvPr/>
        </p:nvSpPr>
        <p:spPr>
          <a:xfrm>
            <a:off x="604340" y="4897287"/>
            <a:ext cx="7935300" cy="246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73" name="Google Shape;73;p14"/>
          <p:cNvSpPr txBox="1"/>
          <p:nvPr/>
        </p:nvSpPr>
        <p:spPr>
          <a:xfrm>
            <a:off x="3188690" y="2660151"/>
            <a:ext cx="2766600"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2100"/>
              <a:buFont typeface="Arial"/>
              <a:buNone/>
            </a:pPr>
            <a:r>
              <a:rPr lang="en-US" sz="1600" b="1" u="sng" dirty="0" smtClean="0">
                <a:solidFill>
                  <a:schemeClr val="dk1"/>
                </a:solidFill>
                <a:latin typeface="Times New Roman" panose="02020603050405020304" pitchFamily="18" charset="0"/>
                <a:cs typeface="Times New Roman" panose="02020603050405020304" pitchFamily="18" charset="0"/>
              </a:rPr>
              <a:t>SUPERVISED  </a:t>
            </a:r>
            <a:r>
              <a:rPr lang="en-US" sz="1600" b="1" u="sng" dirty="0" smtClean="0">
                <a:solidFill>
                  <a:schemeClr val="dk1"/>
                </a:solidFill>
                <a:latin typeface="Times New Roman" panose="02020603050405020304" pitchFamily="18" charset="0"/>
                <a:cs typeface="Times New Roman" panose="02020603050405020304" pitchFamily="18" charset="0"/>
              </a:rPr>
              <a:t>B</a:t>
            </a:r>
            <a:r>
              <a:rPr lang="en-US" sz="1600" b="1" u="sng" dirty="0">
                <a:solidFill>
                  <a:schemeClr val="dk1"/>
                </a:solidFill>
                <a:latin typeface="Times New Roman" panose="02020603050405020304" pitchFamily="18" charset="0"/>
                <a:cs typeface="Times New Roman" panose="02020603050405020304" pitchFamily="18" charset="0"/>
              </a:rPr>
              <a:t>Y</a:t>
            </a:r>
            <a:r>
              <a:rPr lang="en-US" sz="1600" b="1" u="sng" dirty="0" smtClean="0">
                <a:solidFill>
                  <a:schemeClr val="dk1"/>
                </a:solidFill>
                <a:latin typeface="Times New Roman" panose="02020603050405020304" pitchFamily="18" charset="0"/>
                <a:cs typeface="Times New Roman" panose="02020603050405020304" pitchFamily="18" charset="0"/>
              </a:rPr>
              <a:t>:</a:t>
            </a:r>
          </a:p>
          <a:p>
            <a:pPr marL="0" lvl="0" indent="0" algn="ctr" rtl="0">
              <a:spcBef>
                <a:spcPts val="0"/>
              </a:spcBef>
              <a:spcAft>
                <a:spcPts val="0"/>
              </a:spcAft>
              <a:buClr>
                <a:schemeClr val="dk1"/>
              </a:buClr>
              <a:buSzPts val="2100"/>
              <a:buFont typeface="Arial"/>
              <a:buNone/>
            </a:pPr>
            <a:endParaRPr lang="en-US" sz="1600" b="1" u="sng" dirty="0" smtClean="0">
              <a:solidFill>
                <a:schemeClr val="dk1"/>
              </a:solidFill>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chemeClr val="dk1"/>
              </a:buClr>
              <a:buSzPts val="2100"/>
              <a:buFont typeface="Arial"/>
              <a:buNone/>
            </a:pPr>
            <a:r>
              <a:rPr lang="en-US" sz="1200" b="1" dirty="0" smtClean="0">
                <a:solidFill>
                  <a:schemeClr val="dk1"/>
                </a:solidFill>
                <a:latin typeface="Times New Roman" panose="02020603050405020304" pitchFamily="18" charset="0"/>
                <a:ea typeface="Economica"/>
                <a:cs typeface="Times New Roman" panose="02020603050405020304" pitchFamily="18" charset="0"/>
                <a:sym typeface="Economica"/>
              </a:rPr>
              <a:t>Dr</a:t>
            </a:r>
            <a:r>
              <a:rPr lang="en-US" sz="1200" b="1" dirty="0" smtClean="0">
                <a:solidFill>
                  <a:schemeClr val="dk1"/>
                </a:solidFill>
                <a:latin typeface="Times New Roman" panose="02020603050405020304" pitchFamily="18" charset="0"/>
                <a:ea typeface="Economica"/>
                <a:cs typeface="Times New Roman" panose="02020603050405020304" pitchFamily="18" charset="0"/>
                <a:sym typeface="Economica"/>
              </a:rPr>
              <a:t>. IMRAN SHAH</a:t>
            </a:r>
            <a:endParaRPr sz="1200" dirty="0">
              <a:solidFill>
                <a:schemeClr val="dk1"/>
              </a:solidFill>
              <a:latin typeface="Times New Roman" panose="02020603050405020304" pitchFamily="18" charset="0"/>
              <a:ea typeface="Economica"/>
              <a:cs typeface="Times New Roman" panose="02020603050405020304" pitchFamily="18" charset="0"/>
              <a:sym typeface="Economica"/>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861798" y="55319"/>
            <a:ext cx="7872300" cy="1183865"/>
          </a:xfrm>
          <a:prstGeom prst="rect">
            <a:avLst/>
          </a:prstGeom>
          <a:noFill/>
          <a:ln>
            <a:noFill/>
          </a:ln>
        </p:spPr>
        <p:txBody>
          <a:bodyPr spcFirstLastPara="1" wrap="square" lIns="91425" tIns="91425" rIns="91425" bIns="91425" anchor="b" anchorCtr="0">
            <a:normAutofit/>
          </a:bodyPr>
          <a:lstStyle/>
          <a:p>
            <a:pPr lvl="0"/>
            <a:r>
              <a:rPr lang="en-US" sz="1600" b="1" dirty="0">
                <a:latin typeface="Times New Roman" panose="02020603050405020304" pitchFamily="18" charset="0"/>
                <a:ea typeface="Arial"/>
                <a:cs typeface="Times New Roman" panose="02020603050405020304" pitchFamily="18" charset="0"/>
                <a:sym typeface="Arial"/>
              </a:rPr>
              <a:t> </a:t>
            </a:r>
            <a:r>
              <a:rPr lang="en-US" sz="1600" b="1" dirty="0" smtClean="0">
                <a:latin typeface="Times New Roman" panose="02020603050405020304" pitchFamily="18" charset="0"/>
                <a:ea typeface="Arial"/>
                <a:cs typeface="Times New Roman" panose="02020603050405020304" pitchFamily="18" charset="0"/>
                <a:sym typeface="Arial"/>
              </a:rPr>
              <a:t> IN</a:t>
            </a:r>
            <a:r>
              <a:rPr lang="en-US" sz="1600" b="1" dirty="0" smtClean="0">
                <a:solidFill>
                  <a:schemeClr val="dk1"/>
                </a:solidFill>
                <a:latin typeface="Times New Roman" panose="02020603050405020304" pitchFamily="18" charset="0"/>
                <a:ea typeface="Arial"/>
                <a:cs typeface="Times New Roman" panose="02020603050405020304" pitchFamily="18" charset="0"/>
                <a:sym typeface="Arial"/>
              </a:rPr>
              <a:t>TRODUCTION </a:t>
            </a:r>
            <a:r>
              <a:rPr lang="en-US" sz="1600" b="1" dirty="0" smtClean="0">
                <a:latin typeface="Times New Roman" panose="02020603050405020304" pitchFamily="18" charset="0"/>
                <a:cs typeface="Times New Roman" panose="02020603050405020304" pitchFamily="18" charset="0"/>
              </a:rPr>
              <a:t>ZIP LINE PULLY MECHANISM</a:t>
            </a:r>
            <a:r>
              <a:rPr lang="en-US" sz="2800" dirty="0">
                <a:cs typeface="Times New Roman" panose="02020603050405020304" pitchFamily="18" charset="0"/>
              </a:rPr>
              <a:t/>
            </a:r>
            <a:br>
              <a:rPr lang="en-US" sz="2800" dirty="0">
                <a:cs typeface="Times New Roman" panose="02020603050405020304" pitchFamily="18" charset="0"/>
              </a:rPr>
            </a:br>
            <a:endParaRPr sz="2800" u="sng" dirty="0">
              <a:solidFill>
                <a:schemeClr val="dk1"/>
              </a:solidFill>
              <a:latin typeface="Arial"/>
              <a:ea typeface="Arial"/>
              <a:cs typeface="Arial"/>
              <a:sym typeface="Arial"/>
            </a:endParaRPr>
          </a:p>
        </p:txBody>
      </p:sp>
      <p:sp>
        <p:nvSpPr>
          <p:cNvPr id="79" name="Google Shape;79;p15"/>
          <p:cNvSpPr txBox="1">
            <a:spLocks noGrp="1"/>
          </p:cNvSpPr>
          <p:nvPr>
            <p:ph type="body" idx="1"/>
          </p:nvPr>
        </p:nvSpPr>
        <p:spPr>
          <a:xfrm>
            <a:off x="626385" y="1031744"/>
            <a:ext cx="7340455" cy="3521100"/>
          </a:xfrm>
          <a:prstGeom prst="rect">
            <a:avLst/>
          </a:prstGeom>
          <a:noFill/>
          <a:ln>
            <a:noFill/>
          </a:ln>
        </p:spPr>
        <p:txBody>
          <a:bodyPr spcFirstLastPara="1" wrap="square" lIns="91425" tIns="91425" rIns="91425" bIns="91425" anchor="t" anchorCtr="0">
            <a:noAutofit/>
          </a:bodyPr>
          <a:lstStyle/>
          <a:p>
            <a:pPr>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We have to design the zip line pulley mechanism in terms of applied shear force, engineering principles like Von Mises theory can be applied to ensure the pulley's material can withstand the stresses induced by the forces acting on it. </a:t>
            </a:r>
          </a:p>
          <a:p>
            <a:pPr>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Von Mises theory is often used in materials science and engineering to predict yielding of materials under combined loading conditions. In the case of a zip line pulley, the forces acting on the pulley, such as the weight of the rider, friction, and dynamic forces during acceleration and deceleration, create shear stress on the pulley's material</a:t>
            </a:r>
            <a:r>
              <a:rPr lang="en-US" sz="1400" dirty="0" smtClean="0"/>
              <a:t>.</a:t>
            </a:r>
            <a:endParaRPr lang="en-US" sz="1400" dirty="0"/>
          </a:p>
          <a:p>
            <a:pPr marL="114300" indent="0">
              <a:buNone/>
            </a:pPr>
            <a:r>
              <a:rPr lang="en-US" sz="1400" dirty="0"/>
              <a:t> </a:t>
            </a:r>
          </a:p>
          <a:p>
            <a:pPr>
              <a:lnSpc>
                <a:spcPct val="160000"/>
              </a:lnSpc>
              <a:buSzPts val="2571"/>
              <a:buFont typeface="Arial" panose="020B0604020202020204" pitchFamily="34" charset="0"/>
              <a:buChar char="•"/>
            </a:pPr>
            <a:endParaRPr sz="1600" dirty="0">
              <a:solidFill>
                <a:schemeClr val="tx1"/>
              </a:solidFill>
            </a:endParaRPr>
          </a:p>
        </p:txBody>
      </p:sp>
      <p:pic>
        <p:nvPicPr>
          <p:cNvPr id="80" name="Google Shape;80;p15"/>
          <p:cNvPicPr preferRelativeResize="0"/>
          <p:nvPr/>
        </p:nvPicPr>
        <p:blipFill rotWithShape="1">
          <a:blip r:embed="rId3">
            <a:alphaModFix/>
          </a:blip>
          <a:srcRect l="23158" t="21568" r="26842" b="15627"/>
          <a:stretch/>
        </p:blipFill>
        <p:spPr>
          <a:xfrm>
            <a:off x="126124" y="262759"/>
            <a:ext cx="893379" cy="872510"/>
          </a:xfrm>
          <a:prstGeom prst="rect">
            <a:avLst/>
          </a:prstGeom>
          <a:noFill/>
          <a:ln>
            <a:noFill/>
          </a:ln>
        </p:spPr>
      </p:pic>
      <p:sp>
        <p:nvSpPr>
          <p:cNvPr id="83" name="Google Shape;83;p15"/>
          <p:cNvSpPr/>
          <p:nvPr/>
        </p:nvSpPr>
        <p:spPr>
          <a:xfrm>
            <a:off x="6621517" y="1923393"/>
            <a:ext cx="2270235" cy="55399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                                                                                                                                                                       </a:t>
            </a:r>
            <a:endParaRPr sz="1800" b="0" i="0" u="none" strike="noStrike" cap="none" dirty="0">
              <a:solidFill>
                <a:schemeClr val="dk1"/>
              </a:solidFill>
              <a:latin typeface="Times New Roman"/>
              <a:ea typeface="Times New Roman"/>
              <a:cs typeface="Times New Roman"/>
              <a:sym typeface="Times New Roman"/>
            </a:endParaRPr>
          </a:p>
        </p:txBody>
      </p:sp>
      <p:sp>
        <p:nvSpPr>
          <p:cNvPr id="84" name="Google Shape;84;p15"/>
          <p:cNvSpPr/>
          <p:nvPr/>
        </p:nvSpPr>
        <p:spPr>
          <a:xfrm>
            <a:off x="6390290" y="3499945"/>
            <a:ext cx="2343808" cy="40011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800" b="0" i="0" u="none" strike="noStrike" cap="none" dirty="0">
              <a:solidFill>
                <a:schemeClr val="dk1"/>
              </a:solidFill>
              <a:latin typeface="Arial"/>
              <a:ea typeface="Arial"/>
              <a:cs typeface="Arial"/>
              <a:sym typeface="Arial"/>
            </a:endParaRPr>
          </a:p>
        </p:txBody>
      </p:sp>
      <p:sp>
        <p:nvSpPr>
          <p:cNvPr id="85" name="Google Shape;85;p15"/>
          <p:cNvSpPr/>
          <p:nvPr/>
        </p:nvSpPr>
        <p:spPr>
          <a:xfrm>
            <a:off x="780446" y="4759051"/>
            <a:ext cx="7583100" cy="230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title"/>
          </p:nvPr>
        </p:nvSpPr>
        <p:spPr>
          <a:xfrm>
            <a:off x="1206482" y="541866"/>
            <a:ext cx="5570400" cy="315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a:solidFill>
                  <a:schemeClr val="dk1"/>
                </a:solidFill>
                <a:latin typeface="Times New Roman" panose="02020603050405020304" pitchFamily="18" charset="0"/>
                <a:ea typeface="Arial"/>
                <a:cs typeface="Times New Roman" panose="02020603050405020304" pitchFamily="18" charset="0"/>
                <a:sym typeface="Arial"/>
              </a:rPr>
              <a:t>LITERATURE REVIEW</a:t>
            </a:r>
            <a:endParaRPr sz="1600" b="1" dirty="0">
              <a:solidFill>
                <a:schemeClr val="dk1"/>
              </a:solidFill>
              <a:latin typeface="Times New Roman" panose="02020603050405020304" pitchFamily="18" charset="0"/>
              <a:ea typeface="Arial"/>
              <a:cs typeface="Times New Roman" panose="02020603050405020304" pitchFamily="18" charset="0"/>
              <a:sym typeface="Arial"/>
            </a:endParaRPr>
          </a:p>
        </p:txBody>
      </p:sp>
      <p:pic>
        <p:nvPicPr>
          <p:cNvPr id="102" name="Google Shape;102;p17"/>
          <p:cNvPicPr preferRelativeResize="0"/>
          <p:nvPr/>
        </p:nvPicPr>
        <p:blipFill rotWithShape="1">
          <a:blip r:embed="rId3">
            <a:alphaModFix/>
          </a:blip>
          <a:srcRect l="23158" t="21568" r="26842" b="15627"/>
          <a:stretch/>
        </p:blipFill>
        <p:spPr>
          <a:xfrm>
            <a:off x="128016" y="265176"/>
            <a:ext cx="896112" cy="868680"/>
          </a:xfrm>
          <a:prstGeom prst="rect">
            <a:avLst/>
          </a:prstGeom>
          <a:noFill/>
          <a:ln>
            <a:noFill/>
          </a:ln>
        </p:spPr>
      </p:pic>
      <p:sp>
        <p:nvSpPr>
          <p:cNvPr id="103" name="Google Shape;103;p17"/>
          <p:cNvSpPr/>
          <p:nvPr/>
        </p:nvSpPr>
        <p:spPr>
          <a:xfrm>
            <a:off x="777240" y="4754880"/>
            <a:ext cx="7415100" cy="3078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900" b="1">
                <a:solidFill>
                  <a:schemeClr val="dk1"/>
                </a:solidFill>
              </a:rPr>
              <a:t>Department of Mechatronics &amp; Biomedical Engineering, Air University, Pakistan</a:t>
            </a:r>
            <a:endParaRPr b="1">
              <a:solidFill>
                <a:srgbClr val="A5A5A5"/>
              </a:solidFil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extBox 2"/>
          <p:cNvSpPr txBox="1"/>
          <p:nvPr/>
        </p:nvSpPr>
        <p:spPr>
          <a:xfrm>
            <a:off x="1069848" y="945931"/>
            <a:ext cx="7517104" cy="1384995"/>
          </a:xfrm>
          <a:prstGeom prst="rect">
            <a:avLst/>
          </a:prstGeom>
          <a:noFill/>
        </p:spPr>
        <p:txBody>
          <a:bodyPr wrap="square" rtlCol="0">
            <a:spAutoFit/>
          </a:bodyPr>
          <a:lstStyle/>
          <a:p>
            <a:pPr marL="171450" indent="-1714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zip line pulley mechanism is specifically designed for the smooth movement of riders along the    cable in a zip line setup. Functionality The pulley is the central component that traverses the cable, allowing riders to move from a higher to a lower point using gravity[1]. </a:t>
            </a:r>
          </a:p>
          <a:p>
            <a:pPr marL="171450" indent="-1714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It's engineered for minimal friction and smooth gliding. Design Typically made of durable materials like steel or aluminum, the pulley incorporates bearings or rollers to reduce friction and ensure efficient movement along the cable.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1021395" y="15643"/>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US" sz="1600" b="1" dirty="0">
                <a:solidFill>
                  <a:schemeClr val="dk1"/>
                </a:solidFill>
                <a:latin typeface="Times New Roman" panose="02020603050405020304" pitchFamily="18" charset="0"/>
                <a:ea typeface="Arial"/>
                <a:cs typeface="Times New Roman" panose="02020603050405020304" pitchFamily="18" charset="0"/>
                <a:sym typeface="Arial"/>
              </a:rPr>
              <a:t>PROBLEM STATEMENT:</a:t>
            </a:r>
            <a:endParaRPr sz="16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117" name="Google Shape;117;p19"/>
          <p:cNvSpPr txBox="1">
            <a:spLocks noGrp="1"/>
          </p:cNvSpPr>
          <p:nvPr>
            <p:ph type="body" idx="1"/>
          </p:nvPr>
        </p:nvSpPr>
        <p:spPr>
          <a:xfrm>
            <a:off x="196086" y="1078080"/>
            <a:ext cx="8520600" cy="3354000"/>
          </a:xfrm>
          <a:prstGeom prst="rect">
            <a:avLst/>
          </a:prstGeom>
          <a:noFill/>
          <a:ln>
            <a:noFill/>
          </a:ln>
        </p:spPr>
        <p:txBody>
          <a:bodyPr spcFirstLastPara="1" wrap="square" lIns="91425" tIns="91425" rIns="91425" bIns="91425" anchor="t" anchorCtr="0">
            <a:normAutofi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 have to design the zip line pulley mechanism in terms of applied shear force, engineering    principles like Von Mises theory can be applied to ensure the pulley's material can withstand the stresses induced by the forces acting on it</a:t>
            </a:r>
            <a:r>
              <a:rPr lang="en-US" sz="1400" dirty="0" smtClean="0">
                <a:latin typeface="Times New Roman" panose="02020603050405020304" pitchFamily="18" charset="0"/>
                <a:cs typeface="Times New Roman" panose="02020603050405020304" pitchFamily="18" charset="0"/>
              </a:rPr>
              <a:t>.</a:t>
            </a:r>
            <a:endParaRPr lang="en-US" sz="1400" dirty="0"/>
          </a:p>
        </p:txBody>
      </p:sp>
      <p:pic>
        <p:nvPicPr>
          <p:cNvPr id="118" name="Google Shape;118;p19"/>
          <p:cNvPicPr preferRelativeResize="0"/>
          <p:nvPr/>
        </p:nvPicPr>
        <p:blipFill rotWithShape="1">
          <a:blip r:embed="rId3">
            <a:alphaModFix/>
          </a:blip>
          <a:srcRect l="23158" t="21568" r="26842" b="15627"/>
          <a:stretch/>
        </p:blipFill>
        <p:spPr>
          <a:xfrm>
            <a:off x="128016" y="265176"/>
            <a:ext cx="893379" cy="872510"/>
          </a:xfrm>
          <a:prstGeom prst="rect">
            <a:avLst/>
          </a:prstGeom>
          <a:noFill/>
          <a:ln>
            <a:noFill/>
          </a:ln>
        </p:spPr>
      </p:pic>
      <p:sp>
        <p:nvSpPr>
          <p:cNvPr id="119" name="Google Shape;119;p19"/>
          <p:cNvSpPr/>
          <p:nvPr/>
        </p:nvSpPr>
        <p:spPr>
          <a:xfrm>
            <a:off x="777240" y="4754880"/>
            <a:ext cx="7951200" cy="230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a:spLocks noGrp="1"/>
          </p:cNvSpPr>
          <p:nvPr>
            <p:ph type="title"/>
          </p:nvPr>
        </p:nvSpPr>
        <p:spPr>
          <a:xfrm>
            <a:off x="1069848" y="151349"/>
            <a:ext cx="8520600" cy="831300"/>
          </a:xfrm>
          <a:prstGeom prst="rect">
            <a:avLst/>
          </a:prstGeom>
          <a:noFill/>
          <a:ln>
            <a:noFill/>
          </a:ln>
        </p:spPr>
        <p:txBody>
          <a:bodyPr spcFirstLastPara="1" wrap="square" lIns="91425" tIns="91425" rIns="91425" bIns="91425" anchor="b" anchorCtr="0">
            <a:normAutofit/>
          </a:bodyPr>
          <a:lstStyle/>
          <a:p>
            <a:pPr marL="0" lvl="0" indent="0" algn="just" rtl="0">
              <a:lnSpc>
                <a:spcPct val="100000"/>
              </a:lnSpc>
              <a:spcBef>
                <a:spcPts val="0"/>
              </a:spcBef>
              <a:spcAft>
                <a:spcPts val="0"/>
              </a:spcAft>
              <a:buSzPts val="4200"/>
              <a:buNone/>
            </a:pPr>
            <a:r>
              <a:rPr lang="en-US" sz="1600" b="1" dirty="0">
                <a:latin typeface="Times New Roman" panose="02020603050405020304" pitchFamily="18" charset="0"/>
                <a:ea typeface="Arial"/>
                <a:cs typeface="Times New Roman" panose="02020603050405020304" pitchFamily="18" charset="0"/>
                <a:sym typeface="Arial"/>
              </a:rPr>
              <a:t>PROJECT OBJECTIVE:</a:t>
            </a:r>
            <a:endParaRPr sz="1600" b="1" dirty="0">
              <a:latin typeface="Times New Roman" panose="02020603050405020304" pitchFamily="18" charset="0"/>
              <a:ea typeface="Arial"/>
              <a:cs typeface="Times New Roman" panose="02020603050405020304" pitchFamily="18" charset="0"/>
              <a:sym typeface="Arial"/>
            </a:endParaRPr>
          </a:p>
        </p:txBody>
      </p:sp>
      <p:sp>
        <p:nvSpPr>
          <p:cNvPr id="125" name="Google Shape;125;p20"/>
          <p:cNvSpPr txBox="1">
            <a:spLocks noGrp="1"/>
          </p:cNvSpPr>
          <p:nvPr>
            <p:ph type="body" idx="1"/>
          </p:nvPr>
        </p:nvSpPr>
        <p:spPr>
          <a:xfrm>
            <a:off x="623400" y="877546"/>
            <a:ext cx="8520600" cy="3354000"/>
          </a:xfrm>
          <a:prstGeom prst="rect">
            <a:avLst/>
          </a:prstGeom>
          <a:noFill/>
          <a:ln>
            <a:noFill/>
          </a:ln>
        </p:spPr>
        <p:txBody>
          <a:bodyPr spcFirstLastPara="1" wrap="square" lIns="91425" tIns="91425" rIns="91425" bIns="91425" anchor="t" anchorCtr="0">
            <a:normAutofit/>
          </a:bodyPr>
          <a:lstStyle/>
          <a:p>
            <a:pPr marL="285750" lvl="0" indent="-285750">
              <a:spcBef>
                <a:spcPts val="2400"/>
              </a:spcBef>
              <a:spcAft>
                <a:spcPts val="1200"/>
              </a:spcAf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Performing stress analysis and Von Mises calculations for a zip line mechanism involves evaluating the structural integrity of the components under different loads and conditions. Here's a step-by-step guide to conduct this </a:t>
            </a:r>
            <a:r>
              <a:rPr lang="en-US" sz="1400" dirty="0" smtClean="0">
                <a:latin typeface="Times New Roman" panose="02020603050405020304" pitchFamily="18" charset="0"/>
                <a:cs typeface="Times New Roman" panose="02020603050405020304" pitchFamily="18" charset="0"/>
              </a:rPr>
              <a:t>analysis.</a:t>
            </a:r>
            <a:endParaRPr sz="1400" dirty="0">
              <a:latin typeface="Times New Roman" panose="02020603050405020304" pitchFamily="18" charset="0"/>
              <a:ea typeface="Arial"/>
              <a:cs typeface="Times New Roman" panose="02020603050405020304" pitchFamily="18" charset="0"/>
              <a:sym typeface="Arial"/>
            </a:endParaRPr>
          </a:p>
        </p:txBody>
      </p:sp>
      <p:pic>
        <p:nvPicPr>
          <p:cNvPr id="126" name="Google Shape;126;p20"/>
          <p:cNvPicPr preferRelativeResize="0"/>
          <p:nvPr/>
        </p:nvPicPr>
        <p:blipFill rotWithShape="1">
          <a:blip r:embed="rId3">
            <a:alphaModFix/>
          </a:blip>
          <a:srcRect l="23158" t="21568" r="26842" b="15627"/>
          <a:stretch/>
        </p:blipFill>
        <p:spPr>
          <a:xfrm>
            <a:off x="126124" y="262759"/>
            <a:ext cx="893379" cy="87251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1069848" y="18288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US" sz="1600" b="1" dirty="0" smtClean="0">
                <a:latin typeface="Times New Roman" panose="02020603050405020304" pitchFamily="18" charset="0"/>
                <a:ea typeface="Arial"/>
                <a:cs typeface="Times New Roman" panose="02020603050405020304" pitchFamily="18" charset="0"/>
                <a:sym typeface="Arial"/>
              </a:rPr>
              <a:t>SCOPE:</a:t>
            </a:r>
            <a:endParaRPr sz="1600" b="1" dirty="0">
              <a:latin typeface="Times New Roman" panose="02020603050405020304" pitchFamily="18" charset="0"/>
              <a:ea typeface="Arial"/>
              <a:cs typeface="Times New Roman" panose="02020603050405020304" pitchFamily="18" charset="0"/>
              <a:sym typeface="Arial"/>
            </a:endParaRPr>
          </a:p>
        </p:txBody>
      </p:sp>
      <p:sp>
        <p:nvSpPr>
          <p:cNvPr id="133" name="Google Shape;133;p21"/>
          <p:cNvSpPr txBox="1">
            <a:spLocks noGrp="1"/>
          </p:cNvSpPr>
          <p:nvPr>
            <p:ph type="body" idx="1"/>
          </p:nvPr>
        </p:nvSpPr>
        <p:spPr>
          <a:xfrm>
            <a:off x="311700" y="1114249"/>
            <a:ext cx="8520600" cy="3354000"/>
          </a:xfrm>
          <a:prstGeom prst="rect">
            <a:avLst/>
          </a:prstGeom>
          <a:noFill/>
          <a:ln>
            <a:noFill/>
          </a:ln>
        </p:spPr>
        <p:txBody>
          <a:bodyPr spcFirstLastPara="1" wrap="square" lIns="91425" tIns="91425" rIns="91425" bIns="91425" anchor="t" anchorCtr="0">
            <a:normAutofit/>
          </a:bodyPr>
          <a:lstStyle/>
          <a:p>
            <a:pPr algn="just">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The main scope in our daily life The scope of zip-lines around the world varies widely, from simple backyard zip-lines which are designed to be safe enough for children to very high, long professional </a:t>
            </a:r>
            <a:r>
              <a:rPr lang="en-US" sz="1400" dirty="0" err="1" smtClean="0">
                <a:latin typeface="Times New Roman" panose="02020603050405020304" pitchFamily="18" charset="0"/>
                <a:cs typeface="Times New Roman" panose="02020603050405020304" pitchFamily="18" charset="0"/>
              </a:rPr>
              <a:t>ziplines</a:t>
            </a:r>
            <a:r>
              <a:rPr lang="en-US" sz="1400" dirty="0" smtClean="0">
                <a:latin typeface="Times New Roman" panose="02020603050405020304" pitchFamily="18" charset="0"/>
                <a:cs typeface="Times New Roman" panose="02020603050405020304" pitchFamily="18" charset="0"/>
              </a:rPr>
              <a:t> used in locations where other methods of transport are not practical.</a:t>
            </a:r>
          </a:p>
          <a:p>
            <a:pPr algn="just">
              <a:buFont typeface="Arial" panose="020B0604020202020204" pitchFamily="34" charset="0"/>
              <a:buChar char="•"/>
            </a:pPr>
            <a:endParaRPr sz="1400" dirty="0">
              <a:latin typeface="Times New Roman" panose="02020603050405020304" pitchFamily="18" charset="0"/>
              <a:ea typeface="Times New Roman"/>
              <a:cs typeface="Times New Roman" panose="02020603050405020304" pitchFamily="18" charset="0"/>
              <a:sym typeface="Times New Roman"/>
            </a:endParaRPr>
          </a:p>
        </p:txBody>
      </p:sp>
      <p:pic>
        <p:nvPicPr>
          <p:cNvPr id="134" name="Google Shape;134;p21"/>
          <p:cNvPicPr preferRelativeResize="0"/>
          <p:nvPr/>
        </p:nvPicPr>
        <p:blipFill rotWithShape="1">
          <a:blip r:embed="rId3">
            <a:alphaModFix/>
          </a:blip>
          <a:srcRect l="23158" t="21568" r="26842" b="15627"/>
          <a:stretch/>
        </p:blipFill>
        <p:spPr>
          <a:xfrm>
            <a:off x="128016" y="241739"/>
            <a:ext cx="893379" cy="87251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40" name="Google Shape;140;p22"/>
          <p:cNvSpPr txBox="1">
            <a:spLocks noGrp="1"/>
          </p:cNvSpPr>
          <p:nvPr>
            <p:ph type="body" idx="1"/>
          </p:nvPr>
        </p:nvSpPr>
        <p:spPr>
          <a:xfrm>
            <a:off x="1021395" y="1132515"/>
            <a:ext cx="6126600" cy="2371071"/>
          </a:xfrm>
          <a:prstGeom prst="rect">
            <a:avLst/>
          </a:prstGeom>
          <a:noFill/>
          <a:ln>
            <a:noFill/>
          </a:ln>
        </p:spPr>
        <p:txBody>
          <a:bodyPr spcFirstLastPara="1" wrap="square" lIns="91425" tIns="91425" rIns="91425" bIns="91425" anchor="t" anchorCtr="0">
            <a:noAutofit/>
          </a:bodyPr>
          <a:lstStyle/>
          <a:p>
            <a:pPr marL="114300" indent="0">
              <a:buNone/>
            </a:pPr>
            <a:r>
              <a:rPr lang="en-US" sz="1200" dirty="0" smtClean="0">
                <a:latin typeface="Times New Roman" panose="02020603050405020304" pitchFamily="18" charset="0"/>
                <a:cs typeface="Times New Roman" panose="02020603050405020304" pitchFamily="18" charset="0"/>
              </a:rPr>
              <a:t>The zip line pulley mechanism is specifically designed for the smooth movement of riders along the cable in a zip line setup.</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Functionality:</a:t>
            </a:r>
          </a:p>
          <a:p>
            <a:pPr>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 The pulley is the central component that traverses the cable, allowing riders to move from a higher to a lower point using gravity. It's engineered for minimal friction and smooth gliding.</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Design:</a:t>
            </a:r>
            <a:r>
              <a:rPr lang="en-US" sz="1200" dirty="0" smtClean="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Typically made of durable materials like steel or aluminum, the pulley incorporates bearings or rollers to reduce friction and ensure efficient movement along the cable.</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Operation</a:t>
            </a:r>
            <a:r>
              <a:rPr lang="en-US" sz="1200" b="1"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lvl="0"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operation of a pulley mechanism on a zip line is:</a:t>
            </a:r>
          </a:p>
          <a:p>
            <a:pPr lvl="0"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pulley mechanism is securely attached to the zip line cable, typically through a harness or a direct connection</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lvl="0"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Braking mechanisms, controlled by the rider or an automated system, regulate speed and ensure a safe, controlled descent.</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14300" indent="0">
              <a:buNone/>
            </a:pPr>
            <a:endParaRPr lang="en-US" sz="1200" dirty="0">
              <a:latin typeface="Times New Roman" panose="02020603050405020304" pitchFamily="18" charset="0"/>
              <a:cs typeface="Times New Roman" panose="02020603050405020304" pitchFamily="18" charset="0"/>
            </a:endParaRPr>
          </a:p>
        </p:txBody>
      </p:sp>
      <p:pic>
        <p:nvPicPr>
          <p:cNvPr id="141" name="Google Shape;141;p22"/>
          <p:cNvPicPr preferRelativeResize="0"/>
          <p:nvPr/>
        </p:nvPicPr>
        <p:blipFill rotWithShape="1">
          <a:blip r:embed="rId3">
            <a:alphaModFix/>
          </a:blip>
          <a:srcRect l="23158" t="21568" r="26842" b="15627"/>
          <a:stretch/>
        </p:blipFill>
        <p:spPr>
          <a:xfrm>
            <a:off x="128016" y="237744"/>
            <a:ext cx="893379" cy="872510"/>
          </a:xfrm>
          <a:prstGeom prst="rect">
            <a:avLst/>
          </a:prstGeom>
          <a:noFill/>
          <a:ln>
            <a:noFill/>
          </a:ln>
        </p:spPr>
      </p:pic>
      <p:sp>
        <p:nvSpPr>
          <p:cNvPr id="142" name="Google Shape;142;p22"/>
          <p:cNvSpPr/>
          <p:nvPr/>
        </p:nvSpPr>
        <p:spPr>
          <a:xfrm>
            <a:off x="856592" y="4685478"/>
            <a:ext cx="7814442"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A5A5A5"/>
                </a:solidFill>
                <a:latin typeface="Arial"/>
                <a:ea typeface="Arial"/>
                <a:cs typeface="Arial"/>
                <a:sym typeface="Arial"/>
              </a:rPr>
              <a:t>                        </a:t>
            </a:r>
            <a:r>
              <a:rPr lang="en-US" sz="900" b="1" i="0" u="none" strike="noStrike" cap="none">
                <a:solidFill>
                  <a:schemeClr val="dk1"/>
                </a:solidFill>
                <a:latin typeface="Arial"/>
                <a:ea typeface="Arial"/>
                <a:cs typeface="Arial"/>
                <a:sym typeface="Arial"/>
              </a:rPr>
              <a:t>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4" name="Title 3"/>
          <p:cNvSpPr>
            <a:spLocks noGrp="1"/>
          </p:cNvSpPr>
          <p:nvPr>
            <p:ph type="title"/>
          </p:nvPr>
        </p:nvSpPr>
        <p:spPr>
          <a:xfrm>
            <a:off x="1093200" y="171600"/>
            <a:ext cx="8520600" cy="831300"/>
          </a:xfrm>
        </p:spPr>
        <p:txBody>
          <a:bodyPr>
            <a:normAutofit/>
          </a:bodyPr>
          <a:lstStyle/>
          <a:p>
            <a:r>
              <a:rPr lang="en-US" sz="1600" b="1" dirty="0" smtClean="0">
                <a:latin typeface="Times New Roman" panose="02020603050405020304" pitchFamily="18" charset="0"/>
                <a:cs typeface="Times New Roman" panose="02020603050405020304" pitchFamily="18" charset="0"/>
              </a:rPr>
              <a:t>METHODOLOGY</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1069848" y="182880"/>
            <a:ext cx="8012400" cy="684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a:solidFill>
                  <a:schemeClr val="dk1"/>
                </a:solidFill>
                <a:latin typeface="Times New Roman" panose="02020603050405020304" pitchFamily="18" charset="0"/>
                <a:ea typeface="Arial"/>
                <a:cs typeface="Times New Roman" panose="02020603050405020304" pitchFamily="18" charset="0"/>
                <a:sym typeface="Arial"/>
              </a:rPr>
              <a:t>PRODUCT SPECIFICATIONS</a:t>
            </a:r>
            <a:r>
              <a:rPr lang="en-US" sz="1600" b="1" dirty="0">
                <a:solidFill>
                  <a:schemeClr val="dk1"/>
                </a:solidFill>
                <a:latin typeface="Arial"/>
                <a:ea typeface="Arial"/>
                <a:cs typeface="Arial"/>
                <a:sym typeface="Arial"/>
              </a:rPr>
              <a:t>:</a:t>
            </a:r>
            <a:endParaRPr sz="1600" dirty="0"/>
          </a:p>
        </p:txBody>
      </p:sp>
      <p:sp>
        <p:nvSpPr>
          <p:cNvPr id="157" name="Google Shape;157;p24"/>
          <p:cNvSpPr txBox="1">
            <a:spLocks noGrp="1"/>
          </p:cNvSpPr>
          <p:nvPr>
            <p:ph type="body" idx="1"/>
          </p:nvPr>
        </p:nvSpPr>
        <p:spPr>
          <a:xfrm>
            <a:off x="128025" y="1225225"/>
            <a:ext cx="8520600" cy="2944800"/>
          </a:xfrm>
          <a:prstGeom prst="rect">
            <a:avLst/>
          </a:prstGeom>
          <a:noFill/>
          <a:ln>
            <a:noFill/>
          </a:ln>
        </p:spPr>
        <p:txBody>
          <a:bodyPr spcFirstLastPara="1" wrap="square" lIns="91425" tIns="91425" rIns="91425" bIns="91425" anchor="t" anchorCtr="0">
            <a:noAutofi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Total area of  plate= 907.35cm</a:t>
            </a:r>
            <a:r>
              <a:rPr lang="en-US" sz="1400" baseline="30000" dirty="0">
                <a:latin typeface="Times New Roman" panose="02020603050405020304" pitchFamily="18" charset="0"/>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Total volume of plate=426.3cm</a:t>
            </a:r>
            <a:r>
              <a:rPr lang="en-US" sz="1400" baseline="30000" dirty="0">
                <a:latin typeface="Times New Roman" panose="02020603050405020304" pitchFamily="18" charset="0"/>
                <a:cs typeface="Times New Roman" panose="02020603050405020304" pitchFamily="18" charset="0"/>
              </a:rPr>
              <a:t>3</a:t>
            </a:r>
            <a:r>
              <a:rPr lang="en-US" sz="1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Weight of plate= 4.325 kg</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Weight of pulley= 0.590 kg</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Density of mild steel=7860kg/m</a:t>
            </a:r>
            <a:r>
              <a:rPr lang="en-US" sz="1400" baseline="30000" dirty="0">
                <a:latin typeface="Times New Roman" panose="02020603050405020304" pitchFamily="18" charset="0"/>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a:p>
            <a:pPr marL="114300" indent="0">
              <a:buNone/>
            </a:pPr>
            <a:endParaRPr sz="1400" dirty="0">
              <a:latin typeface="Times New Roman" panose="02020603050405020304" pitchFamily="18" charset="0"/>
              <a:ea typeface="Arial"/>
              <a:cs typeface="Times New Roman" panose="02020603050405020304" pitchFamily="18" charset="0"/>
              <a:sym typeface="Arial"/>
            </a:endParaRPr>
          </a:p>
        </p:txBody>
      </p:sp>
      <p:pic>
        <p:nvPicPr>
          <p:cNvPr id="158" name="Google Shape;158;p24"/>
          <p:cNvPicPr preferRelativeResize="0"/>
          <p:nvPr/>
        </p:nvPicPr>
        <p:blipFill rotWithShape="1">
          <a:blip r:embed="rId3">
            <a:alphaModFix/>
          </a:blip>
          <a:srcRect l="23158" t="21568" r="26842" b="15627"/>
          <a:stretch/>
        </p:blipFill>
        <p:spPr>
          <a:xfrm>
            <a:off x="128016" y="237744"/>
            <a:ext cx="882462" cy="861848"/>
          </a:xfrm>
          <a:prstGeom prst="rect">
            <a:avLst/>
          </a:prstGeom>
          <a:noFill/>
          <a:ln>
            <a:noFill/>
          </a:ln>
        </p:spPr>
      </p:pic>
      <p:sp>
        <p:nvSpPr>
          <p:cNvPr id="159" name="Google Shape;159;p24"/>
          <p:cNvSpPr/>
          <p:nvPr/>
        </p:nvSpPr>
        <p:spPr>
          <a:xfrm>
            <a:off x="1662788" y="4809243"/>
            <a:ext cx="68265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1069838" y="131016"/>
            <a:ext cx="8012400" cy="684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smtClean="0">
                <a:latin typeface="Times New Roman" panose="02020603050405020304" pitchFamily="18" charset="0"/>
                <a:ea typeface="Arial"/>
                <a:cs typeface="Times New Roman" panose="02020603050405020304" pitchFamily="18" charset="0"/>
                <a:sym typeface="Arial"/>
              </a:rPr>
              <a:t>CALCULATION:</a:t>
            </a:r>
            <a:endParaRPr sz="1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5" name="Google Shape;165;p25"/>
              <p:cNvSpPr txBox="1">
                <a:spLocks noGrp="1"/>
              </p:cNvSpPr>
              <p:nvPr>
                <p:ph type="body" idx="1"/>
              </p:nvPr>
            </p:nvSpPr>
            <p:spPr>
              <a:xfrm>
                <a:off x="500558" y="815916"/>
                <a:ext cx="8520600" cy="3957217"/>
              </a:xfrm>
              <a:prstGeom prst="rect">
                <a:avLst/>
              </a:prstGeom>
              <a:noFill/>
              <a:ln>
                <a:noFill/>
              </a:ln>
            </p:spPr>
            <p:txBody>
              <a:bodyPr spcFirstLastPara="1" wrap="square" lIns="91425" tIns="91425" rIns="91425" bIns="91425" anchor="t" anchorCtr="0">
                <a:noAutofit/>
              </a:bodyPr>
              <a:lstStyle/>
              <a:p>
                <a:pPr marL="596900" lvl="1" indent="0">
                  <a:buNone/>
                </a:pPr>
                <a:r>
                  <a:rPr lang="en-US" b="1" dirty="0" smtClean="0">
                    <a:effectLst>
                      <a:glow>
                        <a:srgbClr val="000000"/>
                      </a:glow>
                      <a:outerShdw sx="0" sy="0">
                        <a:srgbClr val="000000"/>
                      </a:outerShdw>
                      <a:reflection stA="0" endPos="0" fadeDir="0" sx="0" sy="0"/>
                    </a:effectLst>
                    <a:latin typeface="Times New Roman" panose="02020603050405020304" pitchFamily="18" charset="0"/>
                    <a:cs typeface="Times New Roman" panose="02020603050405020304" pitchFamily="18" charset="0"/>
                  </a:rPr>
                  <a:t>Data</a:t>
                </a:r>
                <a:r>
                  <a:rPr lang="en-US" b="1" dirty="0">
                    <a:effectLst>
                      <a:glow>
                        <a:srgbClr val="000000"/>
                      </a:glow>
                      <a:outerShdw sx="0" sy="0">
                        <a:srgbClr val="000000"/>
                      </a:outerShdw>
                      <a:reflection stA="0" endPos="0" fadeDir="0" sx="0" sy="0"/>
                    </a:effectLst>
                    <a:latin typeface="Times New Roman" panose="02020603050405020304" pitchFamily="18" charset="0"/>
                    <a:cs typeface="Times New Roman" panose="02020603050405020304" pitchFamily="18" charset="0"/>
                  </a:rPr>
                  <a:t>:</a:t>
                </a:r>
              </a:p>
              <a:p>
                <a:pPr marL="114300" indent="0">
                  <a:buNone/>
                </a:pPr>
                <a:r>
                  <a:rPr lang="en-US" sz="1300" dirty="0" err="1">
                    <a:latin typeface="Times New Roman" panose="02020603050405020304" pitchFamily="18" charset="0"/>
                    <a:cs typeface="Times New Roman" panose="02020603050405020304" pitchFamily="18" charset="0"/>
                  </a:rPr>
                  <a:t>S</a:t>
                </a:r>
                <a:r>
                  <a:rPr lang="en-US" sz="1300" baseline="-25000" dirty="0" err="1">
                    <a:latin typeface="Times New Roman" panose="02020603050405020304" pitchFamily="18" charset="0"/>
                    <a:cs typeface="Times New Roman" panose="02020603050405020304" pitchFamily="18" charset="0"/>
                  </a:rPr>
                  <a:t>ut</a:t>
                </a:r>
                <a:r>
                  <a:rPr lang="en-US" sz="1300" dirty="0">
                    <a:latin typeface="Times New Roman" panose="02020603050405020304" pitchFamily="18" charset="0"/>
                    <a:cs typeface="Times New Roman" panose="02020603050405020304" pitchFamily="18" charset="0"/>
                  </a:rPr>
                  <a:t> = 4x10</a:t>
                </a:r>
                <a:r>
                  <a:rPr lang="en-US" sz="1300" baseline="30000" dirty="0">
                    <a:latin typeface="Times New Roman" panose="02020603050405020304" pitchFamily="18" charset="0"/>
                    <a:cs typeface="Times New Roman" panose="02020603050405020304" pitchFamily="18" charset="0"/>
                  </a:rPr>
                  <a:t>8</a:t>
                </a:r>
                <a:r>
                  <a:rPr lang="en-US" sz="1300" dirty="0">
                    <a:latin typeface="Times New Roman" panose="02020603050405020304" pitchFamily="18" charset="0"/>
                    <a:cs typeface="Times New Roman" panose="02020603050405020304" pitchFamily="18" charset="0"/>
                  </a:rPr>
                  <a:t> N/m</a:t>
                </a:r>
                <a:r>
                  <a:rPr lang="en-US" sz="1300" baseline="30000" dirty="0">
                    <a:latin typeface="Times New Roman" panose="02020603050405020304" pitchFamily="18" charset="0"/>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a:p>
                <a:pPr marL="114300" indent="0">
                  <a:buNone/>
                </a:pPr>
                <a:r>
                  <a:rPr lang="en-US" sz="1300" dirty="0" err="1">
                    <a:latin typeface="Times New Roman" panose="02020603050405020304" pitchFamily="18" charset="0"/>
                    <a:cs typeface="Times New Roman" panose="02020603050405020304" pitchFamily="18" charset="0"/>
                  </a:rPr>
                  <a:t>S</a:t>
                </a:r>
                <a:r>
                  <a:rPr lang="en-US" sz="1300" baseline="-25000" dirty="0" err="1">
                    <a:latin typeface="Times New Roman" panose="02020603050405020304" pitchFamily="18" charset="0"/>
                    <a:cs typeface="Times New Roman" panose="02020603050405020304" pitchFamily="18" charset="0"/>
                  </a:rPr>
                  <a:t>yt</a:t>
                </a:r>
                <a:r>
                  <a:rPr lang="en-US" sz="1300" dirty="0">
                    <a:latin typeface="Times New Roman" panose="02020603050405020304" pitchFamily="18" charset="0"/>
                    <a:cs typeface="Times New Roman" panose="02020603050405020304" pitchFamily="18" charset="0"/>
                  </a:rPr>
                  <a:t> = 2.5x10</a:t>
                </a:r>
                <a:r>
                  <a:rPr lang="en-US" sz="1300" baseline="30000" dirty="0">
                    <a:latin typeface="Times New Roman" panose="02020603050405020304" pitchFamily="18" charset="0"/>
                    <a:cs typeface="Times New Roman" panose="02020603050405020304" pitchFamily="18" charset="0"/>
                  </a:rPr>
                  <a:t>8</a:t>
                </a:r>
                <a:r>
                  <a:rPr lang="en-US" sz="1300" dirty="0">
                    <a:latin typeface="Times New Roman" panose="02020603050405020304" pitchFamily="18" charset="0"/>
                    <a:cs typeface="Times New Roman" panose="02020603050405020304" pitchFamily="18" charset="0"/>
                  </a:rPr>
                  <a:t> N/m</a:t>
                </a:r>
                <a:r>
                  <a:rPr lang="en-US" sz="1300" baseline="30000" dirty="0">
                    <a:latin typeface="Times New Roman" panose="02020603050405020304" pitchFamily="18" charset="0"/>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a:p>
                <a:pPr marL="114300" indent="0">
                  <a:buNone/>
                </a:pPr>
                <a:r>
                  <a:rPr lang="en-US" sz="1300" dirty="0">
                    <a:latin typeface="Times New Roman" panose="02020603050405020304" pitchFamily="18" charset="0"/>
                    <a:cs typeface="Times New Roman" panose="02020603050405020304" pitchFamily="18" charset="0"/>
                  </a:rPr>
                  <a:t>F= 1000 N</a:t>
                </a:r>
              </a:p>
              <a:p>
                <a:pPr marL="114300" indent="0">
                  <a:buNone/>
                </a:pPr>
                <a:r>
                  <a:rPr lang="en-US" sz="1300" dirty="0">
                    <a:latin typeface="Times New Roman" panose="02020603050405020304" pitchFamily="18" charset="0"/>
                    <a:cs typeface="Times New Roman" panose="02020603050405020304" pitchFamily="18" charset="0"/>
                  </a:rPr>
                  <a:t>Diameter of notch=d = 2 cm</a:t>
                </a:r>
              </a:p>
              <a:p>
                <a:pPr marL="114300" indent="0">
                  <a:buNone/>
                </a:pPr>
                <a:r>
                  <a:rPr lang="en-US" sz="1300" dirty="0">
                    <a:latin typeface="Times New Roman" panose="02020603050405020304" pitchFamily="18" charset="0"/>
                    <a:cs typeface="Times New Roman" panose="02020603050405020304" pitchFamily="18" charset="0"/>
                  </a:rPr>
                  <a:t>Width=w= 80 </a:t>
                </a:r>
                <a:r>
                  <a:rPr lang="en-US" sz="1300" dirty="0" smtClean="0">
                    <a:latin typeface="Times New Roman" panose="02020603050405020304" pitchFamily="18" charset="0"/>
                    <a:cs typeface="Times New Roman" panose="02020603050405020304" pitchFamily="18" charset="0"/>
                  </a:rPr>
                  <a:t>cm</a:t>
                </a:r>
              </a:p>
              <a:p>
                <a:pPr marL="114300" indent="0">
                  <a:buNone/>
                </a:pPr>
                <a:r>
                  <a:rPr lang="en-US" sz="1300" dirty="0" smtClean="0"/>
                  <a:t>                                                           </a:t>
                </a:r>
                <a14:m>
                  <m:oMath xmlns:m="http://schemas.openxmlformats.org/officeDocument/2006/math">
                    <m:f>
                      <m:fPr>
                        <m:ctrlPr>
                          <a:rPr lang="en-US" sz="1300" i="1" smtClean="0">
                            <a:latin typeface="TiIME"/>
                          </a:rPr>
                        </m:ctrlPr>
                      </m:fPr>
                      <m:num>
                        <m:r>
                          <a:rPr lang="en-US" sz="1300" i="1">
                            <a:latin typeface="TiIME"/>
                          </a:rPr>
                          <m:t>𝑑</m:t>
                        </m:r>
                      </m:num>
                      <m:den>
                        <m:r>
                          <a:rPr lang="en-US" sz="1300" i="1">
                            <a:latin typeface="TiIME"/>
                          </a:rPr>
                          <m:t>𝑤</m:t>
                        </m:r>
                      </m:den>
                    </m:f>
                  </m:oMath>
                </a14:m>
                <a:r>
                  <a:rPr lang="en-US" sz="1300" dirty="0">
                    <a:latin typeface="Times New Roman" panose="02020603050405020304" pitchFamily="18" charset="0"/>
                    <a:cs typeface="Times New Roman" panose="02020603050405020304" pitchFamily="18" charset="0"/>
                  </a:rPr>
                  <a:t> = </a:t>
                </a:r>
                <a:r>
                  <a:rPr lang="en-US" sz="1300" dirty="0" smtClean="0">
                    <a:latin typeface="Times New Roman" panose="02020603050405020304" pitchFamily="18" charset="0"/>
                    <a:cs typeface="Times New Roman" panose="02020603050405020304" pitchFamily="18" charset="0"/>
                  </a:rPr>
                  <a:t>0.02</a:t>
                </a:r>
              </a:p>
              <a:p>
                <a:pPr marL="114300" indent="0">
                  <a:buNone/>
                </a:pPr>
                <a:r>
                  <a:rPr lang="en-US" sz="1300" dirty="0" smtClean="0"/>
                  <a:t>                                                           </a:t>
                </a:r>
                <a14:m>
                  <m:oMath xmlns:m="http://schemas.openxmlformats.org/officeDocument/2006/math">
                    <m:f>
                      <m:fPr>
                        <m:ctrlPr>
                          <a:rPr lang="en-US" sz="1300" i="1">
                            <a:latin typeface="TiIME"/>
                          </a:rPr>
                        </m:ctrlPr>
                      </m:fPr>
                      <m:num>
                        <m:r>
                          <a:rPr lang="en-US" sz="1300" i="1">
                            <a:latin typeface="TiIME"/>
                          </a:rPr>
                          <m:t>𝑑</m:t>
                        </m:r>
                      </m:num>
                      <m:den>
                        <m:r>
                          <a:rPr lang="en-US" sz="1300" i="1">
                            <a:latin typeface="TiIME"/>
                          </a:rPr>
                          <m:t>h</m:t>
                        </m:r>
                      </m:den>
                    </m:f>
                  </m:oMath>
                </a14:m>
                <a:r>
                  <a:rPr lang="en-US" sz="1300" dirty="0">
                    <a:latin typeface="Times New Roman" panose="02020603050405020304" pitchFamily="18" charset="0"/>
                    <a:cs typeface="Times New Roman" panose="02020603050405020304" pitchFamily="18" charset="0"/>
                  </a:rPr>
                  <a:t> = 4    (h denote the thickness</a:t>
                </a:r>
                <a:r>
                  <a:rPr lang="en-US" sz="1300" dirty="0" smtClean="0">
                    <a:latin typeface="Times New Roman" panose="02020603050405020304" pitchFamily="18" charset="0"/>
                    <a:cs typeface="Times New Roman" panose="02020603050405020304" pitchFamily="18" charset="0"/>
                  </a:rPr>
                  <a:t>)</a:t>
                </a:r>
              </a:p>
              <a:p>
                <a:pPr marL="114300" indent="0">
                  <a:buNone/>
                </a:pPr>
                <a:r>
                  <a:rPr lang="en-US" sz="1300" dirty="0" smtClean="0">
                    <a:latin typeface="Times New Roman" panose="02020603050405020304" pitchFamily="18" charset="0"/>
                    <a:cs typeface="Times New Roman" panose="02020603050405020304" pitchFamily="18" charset="0"/>
                  </a:rPr>
                  <a:t> Find  </a:t>
                </a:r>
                <a14:m>
                  <m:oMath xmlns:m="http://schemas.openxmlformats.org/officeDocument/2006/math">
                    <m:sSub>
                      <m:sSubPr>
                        <m:ctrlPr>
                          <a:rPr lang="en-US" sz="1300" i="1">
                            <a:latin typeface="TiIME"/>
                          </a:rPr>
                        </m:ctrlPr>
                      </m:sSubPr>
                      <m:e>
                        <m:r>
                          <a:rPr lang="en-US" sz="1300" i="1">
                            <a:latin typeface="TiIME"/>
                          </a:rPr>
                          <m:t>𝜎</m:t>
                        </m:r>
                      </m:e>
                      <m:sub>
                        <m:r>
                          <a:rPr lang="en-US" sz="1300" i="1">
                            <a:latin typeface="TiIME"/>
                          </a:rPr>
                          <m:t>𝑚</m:t>
                        </m:r>
                      </m:sub>
                    </m:sSub>
                  </m:oMath>
                </a14:m>
                <a:endParaRPr lang="en-US" sz="1300" dirty="0">
                  <a:latin typeface="Times New Roman" panose="02020603050405020304" pitchFamily="18" charset="0"/>
                  <a:cs typeface="Times New Roman" panose="02020603050405020304" pitchFamily="18" charset="0"/>
                </a:endParaRPr>
              </a:p>
              <a:p>
                <a:pPr marL="114300" indent="0" algn="ctr">
                  <a:buNone/>
                </a:pPr>
                <a:r>
                  <a:rPr lang="en-US" sz="1300" dirty="0">
                    <a:latin typeface="Times New Roman" panose="02020603050405020304" pitchFamily="18" charset="0"/>
                    <a:cs typeface="Times New Roman" panose="02020603050405020304" pitchFamily="18" charset="0"/>
                  </a:rPr>
                  <a:t> </a:t>
                </a:r>
                <a14:m>
                  <m:oMath xmlns:m="http://schemas.openxmlformats.org/officeDocument/2006/math">
                    <m:r>
                      <a:rPr lang="en-US" sz="1300" i="1">
                        <a:latin typeface="TiIME"/>
                      </a:rPr>
                      <m:t>𝜎</m:t>
                    </m:r>
                  </m:oMath>
                </a14:m>
                <a:r>
                  <a:rPr lang="en-US" sz="13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sz="1300" i="1">
                            <a:latin typeface="TiIME"/>
                          </a:rPr>
                        </m:ctrlPr>
                      </m:fPr>
                      <m:num>
                        <m:r>
                          <a:rPr lang="en-US" sz="1300" i="1">
                            <a:latin typeface="TiIME"/>
                          </a:rPr>
                          <m:t>𝑀𝑦</m:t>
                        </m:r>
                      </m:num>
                      <m:den>
                        <m:r>
                          <a:rPr lang="en-US" sz="1300" i="1">
                            <a:latin typeface="TiIME"/>
                          </a:rPr>
                          <m:t>𝐼</m:t>
                        </m:r>
                      </m:den>
                    </m:f>
                  </m:oMath>
                </a14:m>
                <a:r>
                  <a:rPr lang="en-US" sz="1300" dirty="0">
                    <a:latin typeface="Times New Roman" panose="02020603050405020304" pitchFamily="18" charset="0"/>
                    <a:cs typeface="Times New Roman" panose="02020603050405020304" pitchFamily="18" charset="0"/>
                  </a:rPr>
                  <a:t> (where I = </a:t>
                </a:r>
                <a14:m>
                  <m:oMath xmlns:m="http://schemas.openxmlformats.org/officeDocument/2006/math">
                    <m:f>
                      <m:fPr>
                        <m:ctrlPr>
                          <a:rPr lang="en-US" sz="1300" i="1">
                            <a:latin typeface="TiIME"/>
                          </a:rPr>
                        </m:ctrlPr>
                      </m:fPr>
                      <m:num>
                        <m:r>
                          <a:rPr lang="en-US" sz="1300" i="1">
                            <a:latin typeface="TiIME"/>
                          </a:rPr>
                          <m:t>1</m:t>
                        </m:r>
                      </m:num>
                      <m:den>
                        <m:r>
                          <a:rPr lang="en-US" sz="1300" i="1">
                            <a:latin typeface="TiIME"/>
                          </a:rPr>
                          <m:t>12</m:t>
                        </m:r>
                      </m:den>
                    </m:f>
                  </m:oMath>
                </a14:m>
                <a:r>
                  <a:rPr lang="en-US" sz="1300" dirty="0">
                    <a:latin typeface="Times New Roman" panose="02020603050405020304" pitchFamily="18" charset="0"/>
                    <a:cs typeface="Times New Roman" panose="02020603050405020304" pitchFamily="18" charset="0"/>
                  </a:rPr>
                  <a:t> bh</a:t>
                </a:r>
                <a:r>
                  <a:rPr lang="en-US" sz="1300" baseline="30000" dirty="0">
                    <a:latin typeface="Times New Roman" panose="02020603050405020304" pitchFamily="18" charset="0"/>
                    <a:cs typeface="Times New Roman" panose="02020603050405020304" pitchFamily="18" charset="0"/>
                  </a:rPr>
                  <a:t>3</a:t>
                </a:r>
                <a:r>
                  <a:rPr lang="en-US" sz="1300" dirty="0">
                    <a:latin typeface="Times New Roman" panose="02020603050405020304" pitchFamily="18" charset="0"/>
                    <a:cs typeface="Times New Roman" panose="02020603050405020304" pitchFamily="18" charset="0"/>
                  </a:rPr>
                  <a:t>)		</a:t>
                </a:r>
                <a:r>
                  <a:rPr lang="en-US" sz="1300" dirty="0" smtClean="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1)</a:t>
                </a:r>
              </a:p>
              <a:p>
                <a:pPr marL="114300" indent="0">
                  <a:buNone/>
                </a:pPr>
                <a:r>
                  <a:rPr lang="en-US" sz="1300" dirty="0">
                    <a:latin typeface="Times New Roman" panose="02020603050405020304" pitchFamily="18" charset="0"/>
                    <a:cs typeface="Times New Roman" panose="02020603050405020304" pitchFamily="18" charset="0"/>
                  </a:rPr>
                  <a:t>Now putting the value on the l, M and y then find the value of </a:t>
                </a:r>
                <a14:m>
                  <m:oMath xmlns:m="http://schemas.openxmlformats.org/officeDocument/2006/math">
                    <m:sSub>
                      <m:sSubPr>
                        <m:ctrlPr>
                          <a:rPr lang="en-US" sz="1300" i="1">
                            <a:latin typeface="TiIME"/>
                          </a:rPr>
                        </m:ctrlPr>
                      </m:sSubPr>
                      <m:e>
                        <m:r>
                          <a:rPr lang="en-US" sz="1300" i="1">
                            <a:latin typeface="TiIME"/>
                          </a:rPr>
                          <m:t>𝜎</m:t>
                        </m:r>
                      </m:e>
                      <m:sub>
                        <m:r>
                          <a:rPr lang="en-US" sz="1300" i="1">
                            <a:latin typeface="TiIME"/>
                          </a:rPr>
                          <m:t>𝑚</m:t>
                        </m:r>
                      </m:sub>
                    </m:sSub>
                  </m:oMath>
                </a14:m>
                <a:endParaRPr lang="en-US" sz="1300" dirty="0">
                  <a:latin typeface="Times New Roman" panose="02020603050405020304" pitchFamily="18" charset="0"/>
                  <a:cs typeface="Times New Roman" panose="02020603050405020304" pitchFamily="18" charset="0"/>
                </a:endParaRPr>
              </a:p>
              <a:p>
                <a:pPr marL="114300" indent="0" algn="ctr">
                  <a:buNone/>
                </a:pPr>
                <a:r>
                  <a:rPr lang="en-US" sz="1300" dirty="0" smtClean="0">
                    <a:latin typeface="Times New Roman" panose="02020603050405020304" pitchFamily="18" charset="0"/>
                    <a:cs typeface="Times New Roman" panose="02020603050405020304" pitchFamily="18" charset="0"/>
                  </a:rPr>
                  <a:t> I </a:t>
                </a:r>
                <a:r>
                  <a:rPr lang="en-US" sz="13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1300" i="1">
                            <a:latin typeface="TiIME"/>
                          </a:rPr>
                        </m:ctrlPr>
                      </m:fPr>
                      <m:num>
                        <m:r>
                          <a:rPr lang="en-US" sz="1300" i="1">
                            <a:latin typeface="TiIME"/>
                          </a:rPr>
                          <m:t>1</m:t>
                        </m:r>
                      </m:num>
                      <m:den>
                        <m:r>
                          <a:rPr lang="en-US" sz="1300" i="1">
                            <a:latin typeface="TiIME"/>
                          </a:rPr>
                          <m:t>12</m:t>
                        </m:r>
                      </m:den>
                    </m:f>
                  </m:oMath>
                </a14:m>
                <a:r>
                  <a:rPr lang="en-US" sz="1300" dirty="0">
                    <a:latin typeface="Times New Roman" panose="02020603050405020304" pitchFamily="18" charset="0"/>
                    <a:cs typeface="Times New Roman" panose="02020603050405020304" pitchFamily="18" charset="0"/>
                  </a:rPr>
                  <a:t> (w-d) x h</a:t>
                </a:r>
                <a:r>
                  <a:rPr lang="en-US" sz="1300" baseline="30000" dirty="0">
                    <a:latin typeface="Times New Roman" panose="02020603050405020304" pitchFamily="18" charset="0"/>
                    <a:cs typeface="Times New Roman" panose="02020603050405020304" pitchFamily="18" charset="0"/>
                  </a:rPr>
                  <a:t>3		</a:t>
                </a:r>
                <a:r>
                  <a:rPr lang="en-US" sz="1300" baseline="30000" dirty="0" smtClean="0">
                    <a:latin typeface="Times New Roman" panose="02020603050405020304" pitchFamily="18" charset="0"/>
                    <a:cs typeface="Times New Roman" panose="02020603050405020304" pitchFamily="18" charset="0"/>
                  </a:rPr>
                  <a:t>        </a:t>
                </a:r>
                <a:r>
                  <a:rPr lang="en-US" sz="1300" dirty="0" smtClean="0">
                    <a:latin typeface="Times New Roman" panose="02020603050405020304" pitchFamily="18" charset="0"/>
                    <a:cs typeface="Times New Roman" panose="02020603050405020304" pitchFamily="18" charset="0"/>
                  </a:rPr>
                  <a:t>(</a:t>
                </a:r>
                <a:r>
                  <a:rPr lang="en-US" sz="1300" dirty="0">
                    <a:latin typeface="Times New Roman" panose="02020603050405020304" pitchFamily="18" charset="0"/>
                    <a:cs typeface="Times New Roman" panose="02020603050405020304" pitchFamily="18" charset="0"/>
                  </a:rPr>
                  <a:t>2)</a:t>
                </a:r>
              </a:p>
              <a:p>
                <a:pPr marL="114300" indent="0" algn="ctr">
                  <a:buNone/>
                </a:pPr>
                <a:r>
                  <a:rPr lang="en-US" sz="1300" dirty="0">
                    <a:latin typeface="Times New Roman" panose="02020603050405020304" pitchFamily="18" charset="0"/>
                    <a:cs typeface="Times New Roman" panose="02020603050405020304" pitchFamily="18" charset="0"/>
                  </a:rPr>
                  <a:t>I= 8.125 x 10</a:t>
                </a:r>
                <a:r>
                  <a:rPr lang="en-US" sz="1300" baseline="30000" dirty="0">
                    <a:latin typeface="Times New Roman" panose="02020603050405020304" pitchFamily="18" charset="0"/>
                    <a:cs typeface="Times New Roman" panose="02020603050405020304" pitchFamily="18" charset="0"/>
                  </a:rPr>
                  <a:t>-9</a:t>
                </a:r>
                <a:r>
                  <a:rPr lang="en-US" sz="1300" dirty="0">
                    <a:latin typeface="Times New Roman" panose="02020603050405020304" pitchFamily="18" charset="0"/>
                    <a:cs typeface="Times New Roman" panose="02020603050405020304" pitchFamily="18" charset="0"/>
                  </a:rPr>
                  <a:t> m</a:t>
                </a:r>
                <a:r>
                  <a:rPr lang="en-US" sz="1300" baseline="30000" dirty="0">
                    <a:latin typeface="Times New Roman" panose="02020603050405020304" pitchFamily="18" charset="0"/>
                    <a:cs typeface="Times New Roman" panose="02020603050405020304" pitchFamily="18" charset="0"/>
                  </a:rPr>
                  <a:t>4</a:t>
                </a:r>
                <a:r>
                  <a:rPr lang="en-US" sz="1300" dirty="0">
                    <a:latin typeface="Times New Roman" panose="02020603050405020304" pitchFamily="18" charset="0"/>
                    <a:cs typeface="Times New Roman" panose="02020603050405020304" pitchFamily="18" charset="0"/>
                  </a:rPr>
                  <a:t>	</a:t>
                </a:r>
                <a:r>
                  <a:rPr lang="en-US" sz="1300" dirty="0" smtClean="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3)</a:t>
                </a:r>
              </a:p>
              <a:p>
                <a:pPr marL="114300" indent="0" algn="ctr">
                  <a:buNone/>
                </a:pP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y</a:t>
                </a:r>
                <a:r>
                  <a:rPr lang="en-US" sz="1300" baseline="-25000" dirty="0" err="1" smtClean="0">
                    <a:latin typeface="Times New Roman" panose="02020603050405020304" pitchFamily="18" charset="0"/>
                    <a:cs typeface="Times New Roman" panose="02020603050405020304" pitchFamily="18" charset="0"/>
                  </a:rPr>
                  <a:t>max</a:t>
                </a:r>
                <a:r>
                  <a:rPr lang="en-US" sz="1300" baseline="-25000" dirty="0" smtClean="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1300" i="1" smtClean="0">
                            <a:latin typeface="Cambria Math" panose="02040503050406030204" pitchFamily="18" charset="0"/>
                            <a:cs typeface="Times New Roman" panose="02020603050405020304" pitchFamily="18" charset="0"/>
                          </a:rPr>
                        </m:ctrlPr>
                      </m:fPr>
                      <m:num>
                        <m:r>
                          <a:rPr lang="en-US" sz="1300" b="0" i="1" smtClean="0">
                            <a:latin typeface="Cambria Math" panose="02040503050406030204" pitchFamily="18" charset="0"/>
                            <a:cs typeface="Times New Roman" panose="02020603050405020304" pitchFamily="18" charset="0"/>
                          </a:rPr>
                          <m:t>h</m:t>
                        </m:r>
                      </m:num>
                      <m:den>
                        <m:r>
                          <a:rPr lang="en-US" sz="1300" b="0" i="1" smtClean="0">
                            <a:latin typeface="Cambria Math" panose="02040503050406030204" pitchFamily="18" charset="0"/>
                            <a:cs typeface="Times New Roman" panose="02020603050405020304" pitchFamily="18" charset="0"/>
                          </a:rPr>
                          <m:t>2</m:t>
                        </m:r>
                      </m:den>
                    </m:f>
                  </m:oMath>
                </a14:m>
                <a:r>
                  <a:rPr lang="en-US" sz="1300" dirty="0" smtClean="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4)</a:t>
                </a:r>
              </a:p>
              <a:p>
                <a:pPr marL="114300" indent="0" algn="ctr">
                  <a:buNone/>
                </a:pPr>
                <a:r>
                  <a:rPr lang="en-US" sz="1300" dirty="0" smtClean="0">
                    <a:latin typeface="Times New Roman" panose="02020603050405020304" pitchFamily="18" charset="0"/>
                    <a:cs typeface="Times New Roman" panose="02020603050405020304" pitchFamily="18" charset="0"/>
                  </a:rPr>
                  <a:t>          </a:t>
                </a:r>
              </a:p>
              <a:p>
                <a:pPr marL="114300" indent="0" algn="ctr">
                  <a:buNone/>
                </a:pPr>
                <a:endParaRPr lang="en-US" sz="1600" dirty="0">
                  <a:latin typeface="Times New Roman" panose="02020603050405020304" pitchFamily="18" charset="0"/>
                  <a:cs typeface="Times New Roman" panose="02020603050405020304" pitchFamily="18" charset="0"/>
                </a:endParaRPr>
              </a:p>
            </p:txBody>
          </p:sp>
        </mc:Choice>
        <mc:Fallback>
          <p:sp>
            <p:nvSpPr>
              <p:cNvPr id="165" name="Google Shape;165;p25"/>
              <p:cNvSpPr txBox="1">
                <a:spLocks noGrp="1" noRot="1" noChangeAspect="1" noMove="1" noResize="1" noEditPoints="1" noAdjustHandles="1" noChangeArrowheads="1" noChangeShapeType="1" noTextEdit="1"/>
              </p:cNvSpPr>
              <p:nvPr>
                <p:ph type="body" idx="1"/>
              </p:nvPr>
            </p:nvSpPr>
            <p:spPr>
              <a:xfrm>
                <a:off x="500558" y="815916"/>
                <a:ext cx="8520600" cy="3957217"/>
              </a:xfrm>
              <a:prstGeom prst="rect">
                <a:avLst/>
              </a:prstGeom>
              <a:blipFill>
                <a:blip r:embed="rId3"/>
                <a:stretch>
                  <a:fillRect/>
                </a:stretch>
              </a:blipFill>
              <a:ln>
                <a:noFill/>
              </a:ln>
            </p:spPr>
            <p:txBody>
              <a:bodyPr/>
              <a:lstStyle/>
              <a:p>
                <a:r>
                  <a:rPr lang="en-US">
                    <a:noFill/>
                  </a:rPr>
                  <a:t> </a:t>
                </a:r>
              </a:p>
            </p:txBody>
          </p:sp>
        </mc:Fallback>
      </mc:AlternateContent>
      <p:pic>
        <p:nvPicPr>
          <p:cNvPr id="166" name="Google Shape;166;p25"/>
          <p:cNvPicPr preferRelativeResize="0"/>
          <p:nvPr/>
        </p:nvPicPr>
        <p:blipFill rotWithShape="1">
          <a:blip r:embed="rId4">
            <a:alphaModFix/>
          </a:blip>
          <a:srcRect l="23160" t="21567" r="26840" b="15626"/>
          <a:stretch/>
        </p:blipFill>
        <p:spPr>
          <a:xfrm>
            <a:off x="128016" y="237744"/>
            <a:ext cx="882462" cy="861848"/>
          </a:xfrm>
          <a:prstGeom prst="rect">
            <a:avLst/>
          </a:prstGeom>
          <a:noFill/>
          <a:ln>
            <a:noFill/>
          </a:ln>
        </p:spPr>
      </p:pic>
      <p:sp>
        <p:nvSpPr>
          <p:cNvPr id="167" name="Google Shape;167;p25"/>
          <p:cNvSpPr/>
          <p:nvPr/>
        </p:nvSpPr>
        <p:spPr>
          <a:xfrm>
            <a:off x="1662788" y="4809243"/>
            <a:ext cx="68265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3238534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1010478" y="118007"/>
            <a:ext cx="8012400" cy="684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smtClean="0">
                <a:latin typeface="Times New Roman" panose="02020603050405020304" pitchFamily="18" charset="0"/>
                <a:ea typeface="Arial"/>
                <a:cs typeface="Times New Roman" panose="02020603050405020304" pitchFamily="18" charset="0"/>
                <a:sym typeface="Arial"/>
              </a:rPr>
              <a:t>CALCULATION:</a:t>
            </a:r>
            <a:endParaRPr sz="1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5" name="Google Shape;165;p25"/>
              <p:cNvSpPr txBox="1">
                <a:spLocks noGrp="1"/>
              </p:cNvSpPr>
              <p:nvPr>
                <p:ph type="body" idx="1"/>
              </p:nvPr>
            </p:nvSpPr>
            <p:spPr>
              <a:xfrm>
                <a:off x="128025" y="1099600"/>
                <a:ext cx="8520600" cy="3070500"/>
              </a:xfrm>
              <a:prstGeom prst="rect">
                <a:avLst/>
              </a:prstGeom>
              <a:noFill/>
              <a:ln>
                <a:noFill/>
              </a:ln>
            </p:spPr>
            <p:txBody>
              <a:bodyPr spcFirstLastPara="1" wrap="square" lIns="91425" tIns="91425" rIns="91425" bIns="91425" anchor="t" anchorCtr="0">
                <a:noAutofit/>
              </a:bodyPr>
              <a:lstStyle/>
              <a:p>
                <a:pPr marL="114300" indent="0" algn="ctr">
                  <a:buNone/>
                </a:pPr>
                <a:r>
                  <a:rPr lang="en-US" sz="1400" dirty="0" smtClean="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y</a:t>
                </a:r>
                <a:r>
                  <a:rPr lang="en-US" sz="1400" baseline="-25000" dirty="0" err="1">
                    <a:latin typeface="Times New Roman" panose="02020603050405020304" pitchFamily="18" charset="0"/>
                    <a:cs typeface="Times New Roman" panose="02020603050405020304" pitchFamily="18" charset="0"/>
                  </a:rPr>
                  <a:t>max</a:t>
                </a:r>
                <a:r>
                  <a:rPr lang="en-US" sz="1400" baseline="-250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0.0025m		(5</a:t>
                </a:r>
                <a:r>
                  <a:rPr lang="en-US" sz="1400" dirty="0">
                    <a:latin typeface="Times New Roman" panose="02020603050405020304" pitchFamily="18" charset="0"/>
                    <a:cs typeface="Times New Roman" panose="02020603050405020304" pitchFamily="18" charset="0"/>
                  </a:rPr>
                  <a:t>)</a:t>
                </a:r>
              </a:p>
              <a:p>
                <a:pPr marL="114300" indent="0" algn="ctr">
                  <a:buNone/>
                </a:pPr>
                <a:r>
                  <a:rPr lang="en-US" sz="1400" dirty="0">
                    <a:latin typeface="Times New Roman" panose="02020603050405020304" pitchFamily="18" charset="0"/>
                    <a:cs typeface="Times New Roman" panose="02020603050405020304" pitchFamily="18" charset="0"/>
                  </a:rPr>
                  <a:t>M</a:t>
                </a:r>
                <a:r>
                  <a:rPr lang="en-US" sz="1400" baseline="-25000"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𝑚</m:t>
                            </m:r>
                          </m:sub>
                        </m:sSub>
                      </m:num>
                      <m:den>
                        <m:r>
                          <a:rPr lang="en-US" b="0" i="1" smtClean="0">
                            <a:latin typeface="Cambria Math" panose="02040503050406030204" pitchFamily="18" charset="0"/>
                          </a:rPr>
                          <m:t>2</m:t>
                        </m:r>
                      </m:den>
                    </m:f>
                    <m:r>
                      <m:rPr>
                        <m:sty m:val="p"/>
                      </m:rPr>
                      <a:rPr lang="en-US" b="0" i="0" smtClean="0">
                        <a:latin typeface="Cambria Math" panose="02040503050406030204" pitchFamily="18" charset="0"/>
                      </a:rPr>
                      <m:t>x</m:t>
                    </m:r>
                  </m:oMath>
                </a14:m>
                <a:r>
                  <a:rPr lang="en-US" dirty="0" smtClean="0">
                    <a:latin typeface="Times New Roman" panose="02020603050405020304" pitchFamily="18" charset="0"/>
                    <a:cs typeface="Times New Roman" panose="02020603050405020304" pitchFamily="18" charset="0"/>
                  </a:rPr>
                  <a:t>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𝐿</m:t>
                        </m:r>
                      </m:num>
                      <m:den>
                        <m:r>
                          <a:rPr lang="en-US" i="1">
                            <a:latin typeface="Cambria Math" panose="02040503050406030204" pitchFamily="18" charset="0"/>
                          </a:rPr>
                          <m:t>2</m:t>
                        </m:r>
                      </m:den>
                    </m:f>
                  </m:oMath>
                </a14:m>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6)</a:t>
                </a:r>
              </a:p>
              <a:p>
                <a:pPr marL="114300" indent="0" algn="ctr">
                  <a:buNone/>
                </a:pPr>
                <a:r>
                  <a:rPr lang="en-US" sz="1400" b="1" dirty="0">
                    <a:latin typeface="Times New Roman" panose="02020603050405020304" pitchFamily="18" charset="0"/>
                    <a:cs typeface="Times New Roman" panose="02020603050405020304" pitchFamily="18" charset="0"/>
                  </a:rPr>
                  <a:t>M</a:t>
                </a:r>
                <a:r>
                  <a:rPr lang="en-US" sz="1400" b="1" baseline="-25000" dirty="0">
                    <a:latin typeface="Times New Roman" panose="02020603050405020304" pitchFamily="18" charset="0"/>
                    <a:cs typeface="Times New Roman" panose="02020603050405020304" pitchFamily="18" charset="0"/>
                  </a:rPr>
                  <a:t>m </a:t>
                </a:r>
                <a:r>
                  <a:rPr lang="en-US" sz="1400" b="1" dirty="0">
                    <a:latin typeface="Times New Roman" panose="02020603050405020304" pitchFamily="18" charset="0"/>
                    <a:cs typeface="Times New Roman" panose="02020603050405020304" pitchFamily="18" charset="0"/>
                  </a:rPr>
                  <a:t>= 56.25 </a:t>
                </a:r>
                <a:r>
                  <a:rPr lang="en-US" sz="1400" b="1" dirty="0" smtClean="0">
                    <a:latin typeface="Times New Roman" panose="02020603050405020304" pitchFamily="18" charset="0"/>
                    <a:cs typeface="Times New Roman" panose="02020603050405020304" pitchFamily="18" charset="0"/>
                  </a:rPr>
                  <a:t>Nm 		</a:t>
                </a:r>
                <a:r>
                  <a:rPr lang="en-US" sz="1400" dirty="0" smtClean="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7)</a:t>
                </a:r>
              </a:p>
              <a:p>
                <a:pPr marL="114300" indent="0">
                  <a:buNone/>
                </a:pPr>
                <a:r>
                  <a:rPr lang="en-US" sz="1400" dirty="0">
                    <a:latin typeface="Times New Roman" panose="02020603050405020304" pitchFamily="18" charset="0"/>
                    <a:cs typeface="Times New Roman" panose="02020603050405020304" pitchFamily="18" charset="0"/>
                  </a:rPr>
                  <a:t>Now putting the value in the (1)</a:t>
                </a:r>
              </a:p>
              <a:p>
                <a:pPr marL="114300" indent="0" algn="ctr">
                  <a:buNone/>
                </a:pPr>
                <a14:m>
                  <m:oMath xmlns:m="http://schemas.openxmlformats.org/officeDocument/2006/math">
                    <m:sSub>
                      <m:sSubPr>
                        <m:ctrlPr>
                          <a:rPr lang="en-US" sz="1400" b="1" i="1"/>
                        </m:ctrlPr>
                      </m:sSubPr>
                      <m:e>
                        <m:r>
                          <a:rPr lang="en-US" sz="1400" b="1" i="1"/>
                          <m:t>𝝈</m:t>
                        </m:r>
                      </m:e>
                      <m:sub>
                        <m:r>
                          <a:rPr lang="en-US" sz="1400" b="1" i="1"/>
                          <m:t>𝒏𝒐𝒎</m:t>
                        </m:r>
                      </m:sub>
                    </m:sSub>
                  </m:oMath>
                </a14:m>
                <a:r>
                  <a:rPr lang="en-US" sz="1400" b="1" dirty="0">
                    <a:latin typeface="Times New Roman" panose="02020603050405020304" pitchFamily="18" charset="0"/>
                    <a:cs typeface="Times New Roman" panose="02020603050405020304" pitchFamily="18" charset="0"/>
                  </a:rPr>
                  <a:t> = </a:t>
                </a:r>
                <a:r>
                  <a:rPr lang="en-US" sz="1400" b="1" dirty="0" smtClean="0">
                    <a:latin typeface="Times New Roman" panose="02020603050405020304" pitchFamily="18" charset="0"/>
                    <a:cs typeface="Times New Roman" panose="02020603050405020304" pitchFamily="18" charset="0"/>
                  </a:rPr>
                  <a:t>17.30MPa		 </a:t>
                </a:r>
                <a:r>
                  <a:rPr lang="en-US" sz="1400" dirty="0" smtClean="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8</a:t>
                </a:r>
                <a:r>
                  <a:rPr lang="en-US" sz="1400" dirty="0" smtClean="0">
                    <a:latin typeface="Times New Roman" panose="02020603050405020304" pitchFamily="18" charset="0"/>
                    <a:cs typeface="Times New Roman" panose="02020603050405020304" pitchFamily="18" charset="0"/>
                  </a:rPr>
                  <a:t>)</a:t>
                </a:r>
              </a:p>
              <a:p>
                <a:pPr marL="114300" indent="0">
                  <a:buNone/>
                </a:pPr>
                <a:r>
                  <a:rPr lang="en-US" sz="1400" dirty="0">
                    <a:latin typeface="Times New Roman" panose="02020603050405020304" pitchFamily="18" charset="0"/>
                    <a:cs typeface="Times New Roman" panose="02020603050405020304" pitchFamily="18" charset="0"/>
                  </a:rPr>
                  <a:t>From graphs</a:t>
                </a:r>
              </a:p>
              <a:p>
                <a:pPr marL="114300" indent="0">
                  <a:buNone/>
                </a:pPr>
                <a:r>
                  <a:rPr lang="en-US" sz="1400" dirty="0" err="1">
                    <a:latin typeface="Times New Roman" panose="02020603050405020304" pitchFamily="18" charset="0"/>
                    <a:cs typeface="Times New Roman" panose="02020603050405020304" pitchFamily="18" charset="0"/>
                  </a:rPr>
                  <a:t>K</a:t>
                </a:r>
                <a:r>
                  <a:rPr lang="en-US" sz="1400" baseline="-25000" dirty="0" err="1">
                    <a:latin typeface="Times New Roman" panose="02020603050405020304" pitchFamily="18" charset="0"/>
                    <a:cs typeface="Times New Roman" panose="02020603050405020304" pitchFamily="18" charset="0"/>
                  </a:rPr>
                  <a:t>t</a:t>
                </a:r>
                <a:r>
                  <a:rPr lang="en-US" sz="1400" dirty="0">
                    <a:latin typeface="Times New Roman" panose="02020603050405020304" pitchFamily="18" charset="0"/>
                    <a:cs typeface="Times New Roman" panose="02020603050405020304" pitchFamily="18" charset="0"/>
                  </a:rPr>
                  <a:t>= 2</a:t>
                </a:r>
              </a:p>
              <a:p>
                <a:pPr marL="114300" indent="0" algn="ctr">
                  <a:buNone/>
                </a:pPr>
                <a:r>
                  <a:rPr lang="en-US" sz="1400" dirty="0" err="1">
                    <a:latin typeface="Times New Roman" panose="02020603050405020304" pitchFamily="18" charset="0"/>
                    <a:cs typeface="Times New Roman" panose="02020603050405020304" pitchFamily="18" charset="0"/>
                  </a:rPr>
                  <a:t>K</a:t>
                </a:r>
                <a:r>
                  <a:rPr lang="en-US" sz="1400" baseline="-25000" dirty="0" err="1">
                    <a:latin typeface="Times New Roman" panose="02020603050405020304" pitchFamily="18" charset="0"/>
                    <a:cs typeface="Times New Roman" panose="02020603050405020304" pitchFamily="18" charset="0"/>
                  </a:rPr>
                  <a:t>f</a:t>
                </a:r>
                <a:r>
                  <a:rPr lang="en-US" sz="1400" dirty="0">
                    <a:latin typeface="Times New Roman" panose="02020603050405020304" pitchFamily="18" charset="0"/>
                    <a:cs typeface="Times New Roman" panose="02020603050405020304" pitchFamily="18" charset="0"/>
                  </a:rPr>
                  <a:t> = 1+ q( </a:t>
                </a:r>
                <a:r>
                  <a:rPr lang="en-US" sz="1400" dirty="0" err="1">
                    <a:latin typeface="Times New Roman" panose="02020603050405020304" pitchFamily="18" charset="0"/>
                    <a:cs typeface="Times New Roman" panose="02020603050405020304" pitchFamily="18" charset="0"/>
                  </a:rPr>
                  <a:t>K</a:t>
                </a:r>
                <a:r>
                  <a:rPr lang="en-US" sz="1400" baseline="-25000" dirty="0" err="1">
                    <a:latin typeface="Times New Roman" panose="02020603050405020304" pitchFamily="18" charset="0"/>
                    <a:cs typeface="Times New Roman" panose="02020603050405020304" pitchFamily="18" charset="0"/>
                  </a:rPr>
                  <a:t>t</a:t>
                </a:r>
                <a:r>
                  <a:rPr lang="en-US" sz="1400" baseline="-250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-1</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(9)</a:t>
                </a:r>
              </a:p>
              <a:p>
                <a:pPr marL="114300" indent="0">
                  <a:buNone/>
                </a:pPr>
                <a:r>
                  <a:rPr lang="en-US" sz="1400" dirty="0" smtClean="0">
                    <a:latin typeface="Times New Roman" panose="02020603050405020304" pitchFamily="18" charset="0"/>
                    <a:cs typeface="Times New Roman" panose="02020603050405020304" pitchFamily="18" charset="0"/>
                  </a:rPr>
                  <a:t>                                                            q</a:t>
                </a:r>
                <a:r>
                  <a:rPr lang="en-US" sz="1400" dirty="0">
                    <a:latin typeface="Times New Roman" panose="02020603050405020304" pitchFamily="18" charset="0"/>
                    <a:cs typeface="Times New Roman" panose="02020603050405020304" pitchFamily="18" charset="0"/>
                  </a:rPr>
                  <a:t>=</a:t>
                </a:r>
                <a14:m>
                  <m:oMath xmlns:m="http://schemas.openxmlformats.org/officeDocument/2006/math">
                    <m:f>
                      <m:fPr>
                        <m:ctrlPr>
                          <a:rPr lang="en-US" sz="1400" i="1">
                            <a:latin typeface="TimeE"/>
                          </a:rPr>
                        </m:ctrlPr>
                      </m:fPr>
                      <m:num>
                        <m:r>
                          <a:rPr lang="en-US" sz="1400" i="1">
                            <a:latin typeface="TimeE"/>
                          </a:rPr>
                          <m:t>1</m:t>
                        </m:r>
                      </m:num>
                      <m:den>
                        <m:r>
                          <a:rPr lang="en-US" sz="1400" i="1">
                            <a:latin typeface="TimeE"/>
                          </a:rPr>
                          <m:t>1+</m:t>
                        </m:r>
                        <m:f>
                          <m:fPr>
                            <m:ctrlPr>
                              <a:rPr lang="en-US" sz="1400" i="1">
                                <a:latin typeface="TimeE"/>
                              </a:rPr>
                            </m:ctrlPr>
                          </m:fPr>
                          <m:num>
                            <m:rad>
                              <m:radPr>
                                <m:degHide m:val="on"/>
                                <m:ctrlPr>
                                  <a:rPr lang="en-US" sz="1400" i="1">
                                    <a:latin typeface="TimeE"/>
                                  </a:rPr>
                                </m:ctrlPr>
                              </m:radPr>
                              <m:deg/>
                              <m:e>
                                <m:r>
                                  <a:rPr lang="en-US" sz="1400" i="1">
                                    <a:latin typeface="TimeE"/>
                                  </a:rPr>
                                  <m:t>𝑎</m:t>
                                </m:r>
                              </m:e>
                            </m:rad>
                          </m:num>
                          <m:den>
                            <m:rad>
                              <m:radPr>
                                <m:degHide m:val="on"/>
                                <m:ctrlPr>
                                  <a:rPr lang="en-US" sz="1400" i="1">
                                    <a:latin typeface="TimeE"/>
                                  </a:rPr>
                                </m:ctrlPr>
                              </m:radPr>
                              <m:deg/>
                              <m:e>
                                <m:r>
                                  <a:rPr lang="en-US" sz="1400" i="1">
                                    <a:latin typeface="TimeE"/>
                                  </a:rPr>
                                  <m:t>𝑟</m:t>
                                </m:r>
                              </m:e>
                            </m:rad>
                          </m:den>
                        </m:f>
                      </m:den>
                    </m:f>
                  </m:oMath>
                </a14:m>
                <a:endParaRPr lang="en-US" sz="1400" dirty="0">
                  <a:latin typeface="Times New Roman" panose="02020603050405020304" pitchFamily="18" charset="0"/>
                  <a:cs typeface="Times New Roman" panose="02020603050405020304" pitchFamily="18" charset="0"/>
                </a:endParaRPr>
              </a:p>
              <a:p>
                <a:pPr marL="114300" indent="0" algn="ctr">
                  <a:buNone/>
                </a:pPr>
                <a:r>
                  <a:rPr lang="en-US" sz="1400" dirty="0">
                    <a:latin typeface="Times New Roman" panose="02020603050405020304" pitchFamily="18" charset="0"/>
                    <a:cs typeface="Times New Roman" panose="02020603050405020304" pitchFamily="18" charset="0"/>
                  </a:rPr>
                  <a:t>q=1.137			(10)</a:t>
                </a:r>
              </a:p>
              <a:p>
                <a:pPr marL="114300" indent="0">
                  <a:buNone/>
                </a:pPr>
                <a:r>
                  <a:rPr lang="en-US" sz="1400" dirty="0">
                    <a:latin typeface="Times New Roman" panose="02020603050405020304" pitchFamily="18" charset="0"/>
                    <a:cs typeface="Times New Roman" panose="02020603050405020304" pitchFamily="18" charset="0"/>
                  </a:rPr>
                  <a:t>Now putting the value in (9)</a:t>
                </a:r>
              </a:p>
              <a:p>
                <a:pPr marL="114300" indent="0" algn="ctr">
                  <a:buNone/>
                </a:pPr>
                <a:r>
                  <a:rPr lang="en-US" sz="1400" b="1" dirty="0" smtClean="0">
                    <a:latin typeface="Times New Roman" panose="02020603050405020304" pitchFamily="18" charset="0"/>
                    <a:cs typeface="Times New Roman" panose="02020603050405020304" pitchFamily="18" charset="0"/>
                  </a:rPr>
                  <a:t> </a:t>
                </a:r>
                <a:r>
                  <a:rPr lang="en-US" sz="1400" b="1" dirty="0" err="1" smtClean="0">
                    <a:latin typeface="Times New Roman" panose="02020603050405020304" pitchFamily="18" charset="0"/>
                    <a:cs typeface="Times New Roman" panose="02020603050405020304" pitchFamily="18" charset="0"/>
                  </a:rPr>
                  <a:t>K</a:t>
                </a:r>
                <a:r>
                  <a:rPr lang="en-US" sz="1400" b="1" baseline="-25000" dirty="0" err="1" smtClean="0">
                    <a:latin typeface="Times New Roman" panose="02020603050405020304" pitchFamily="18" charset="0"/>
                    <a:cs typeface="Times New Roman" panose="02020603050405020304" pitchFamily="18" charset="0"/>
                  </a:rPr>
                  <a:t>f</a:t>
                </a:r>
                <a:r>
                  <a:rPr lang="en-US" sz="1400" b="1" dirty="0" smtClean="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 2.137		</a:t>
                </a:r>
                <a:r>
                  <a:rPr lang="en-US" sz="1400" b="1" dirty="0" smtClean="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(11</a:t>
                </a:r>
                <a:r>
                  <a:rPr lang="en-US" sz="1400" dirty="0" smtClean="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mc:Choice>
        <mc:Fallback>
          <p:sp>
            <p:nvSpPr>
              <p:cNvPr id="165" name="Google Shape;165;p25"/>
              <p:cNvSpPr txBox="1">
                <a:spLocks noGrp="1" noRot="1" noChangeAspect="1" noMove="1" noResize="1" noEditPoints="1" noAdjustHandles="1" noChangeArrowheads="1" noChangeShapeType="1" noTextEdit="1"/>
              </p:cNvSpPr>
              <p:nvPr>
                <p:ph type="body" idx="1"/>
              </p:nvPr>
            </p:nvSpPr>
            <p:spPr>
              <a:xfrm>
                <a:off x="128025" y="1099600"/>
                <a:ext cx="8520600" cy="3070500"/>
              </a:xfrm>
              <a:prstGeom prst="rect">
                <a:avLst/>
              </a:prstGeom>
              <a:blipFill>
                <a:blip r:embed="rId3"/>
                <a:stretch>
                  <a:fillRect b="-16667"/>
                </a:stretch>
              </a:blipFill>
              <a:ln>
                <a:noFill/>
              </a:ln>
            </p:spPr>
            <p:txBody>
              <a:bodyPr/>
              <a:lstStyle/>
              <a:p>
                <a:r>
                  <a:rPr lang="en-US">
                    <a:noFill/>
                  </a:rPr>
                  <a:t> </a:t>
                </a:r>
              </a:p>
            </p:txBody>
          </p:sp>
        </mc:Fallback>
      </mc:AlternateContent>
      <p:pic>
        <p:nvPicPr>
          <p:cNvPr id="166" name="Google Shape;166;p25"/>
          <p:cNvPicPr preferRelativeResize="0"/>
          <p:nvPr/>
        </p:nvPicPr>
        <p:blipFill rotWithShape="1">
          <a:blip r:embed="rId4">
            <a:alphaModFix/>
          </a:blip>
          <a:srcRect l="23160" t="21567" r="26840" b="15626"/>
          <a:stretch/>
        </p:blipFill>
        <p:spPr>
          <a:xfrm>
            <a:off x="128016" y="237744"/>
            <a:ext cx="882462" cy="861848"/>
          </a:xfrm>
          <a:prstGeom prst="rect">
            <a:avLst/>
          </a:prstGeom>
          <a:noFill/>
          <a:ln>
            <a:noFill/>
          </a:ln>
        </p:spPr>
      </p:pic>
      <p:sp>
        <p:nvSpPr>
          <p:cNvPr id="167" name="Google Shape;167;p25"/>
          <p:cNvSpPr/>
          <p:nvPr/>
        </p:nvSpPr>
        <p:spPr>
          <a:xfrm>
            <a:off x="1662788" y="4809243"/>
            <a:ext cx="68265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748631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1008758" y="139747"/>
            <a:ext cx="8012400" cy="684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smtClean="0">
                <a:latin typeface="Times New Roman" panose="02020603050405020304" pitchFamily="18" charset="0"/>
                <a:ea typeface="Arial"/>
                <a:cs typeface="Times New Roman" panose="02020603050405020304" pitchFamily="18" charset="0"/>
                <a:sym typeface="Arial"/>
              </a:rPr>
              <a:t>CALCULATION:</a:t>
            </a:r>
            <a:endParaRPr sz="1600" dirty="0">
              <a:latin typeface="Times New Roman" panose="02020603050405020304" pitchFamily="18" charset="0"/>
              <a:cs typeface="Times New Roman" panose="02020603050405020304" pitchFamily="18" charset="0"/>
            </a:endParaRPr>
          </a:p>
        </p:txBody>
      </p:sp>
      <p:sp>
        <p:nvSpPr>
          <p:cNvPr id="165" name="Google Shape;165;p25"/>
          <p:cNvSpPr txBox="1">
            <a:spLocks noGrp="1"/>
          </p:cNvSpPr>
          <p:nvPr>
            <p:ph type="body" idx="1"/>
          </p:nvPr>
        </p:nvSpPr>
        <p:spPr>
          <a:xfrm>
            <a:off x="128025" y="1099600"/>
            <a:ext cx="8520600" cy="3070500"/>
          </a:xfrm>
          <a:prstGeom prst="rect">
            <a:avLst/>
          </a:prstGeom>
          <a:noFill/>
          <a:ln>
            <a:noFill/>
          </a:ln>
        </p:spPr>
        <p:txBody>
          <a:bodyPr spcFirstLastPara="1" wrap="square" lIns="91425" tIns="91425" rIns="91425" bIns="91425" anchor="t" anchorCtr="0">
            <a:noAutofit/>
          </a:bodyPr>
          <a:lstStyle/>
          <a:p>
            <a:pPr marL="114300" indent="0">
              <a:buNone/>
            </a:pP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b="1" dirty="0" smtClean="0">
              <a:latin typeface="Times New Roman" panose="02020603050405020304" pitchFamily="18" charset="0"/>
              <a:cs typeface="Times New Roman" panose="02020603050405020304" pitchFamily="18" charset="0"/>
              <a:sym typeface="Arial"/>
            </a:endParaRPr>
          </a:p>
        </p:txBody>
      </p:sp>
      <p:pic>
        <p:nvPicPr>
          <p:cNvPr id="166" name="Google Shape;166;p25"/>
          <p:cNvPicPr preferRelativeResize="0"/>
          <p:nvPr/>
        </p:nvPicPr>
        <p:blipFill rotWithShape="1">
          <a:blip r:embed="rId3">
            <a:alphaModFix/>
          </a:blip>
          <a:srcRect l="23160" t="21567" r="26840" b="15626"/>
          <a:stretch/>
        </p:blipFill>
        <p:spPr>
          <a:xfrm>
            <a:off x="128016" y="237744"/>
            <a:ext cx="882462" cy="861848"/>
          </a:xfrm>
          <a:prstGeom prst="rect">
            <a:avLst/>
          </a:prstGeom>
          <a:noFill/>
          <a:ln>
            <a:noFill/>
          </a:ln>
        </p:spPr>
      </p:pic>
      <p:sp>
        <p:nvSpPr>
          <p:cNvPr id="167" name="Google Shape;167;p25"/>
          <p:cNvSpPr/>
          <p:nvPr/>
        </p:nvSpPr>
        <p:spPr>
          <a:xfrm>
            <a:off x="1662788" y="4809243"/>
            <a:ext cx="68265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mc:AlternateContent xmlns:mc="http://schemas.openxmlformats.org/markup-compatibility/2006">
        <mc:Choice xmlns:a14="http://schemas.microsoft.com/office/drawing/2010/main" Requires="a14">
          <p:sp>
            <p:nvSpPr>
              <p:cNvPr id="3" name="TextBox 2"/>
              <p:cNvSpPr txBox="1"/>
              <p:nvPr/>
            </p:nvSpPr>
            <p:spPr>
              <a:xfrm>
                <a:off x="872359" y="1127747"/>
                <a:ext cx="7262648" cy="3629776"/>
              </a:xfrm>
              <a:prstGeom prst="rect">
                <a:avLst/>
              </a:prstGeom>
              <a:noFill/>
            </p:spPr>
            <p:txBody>
              <a:bodyPr wrap="square" rtlCol="0">
                <a:spAutoFit/>
              </a:bodyPr>
              <a:lstStyle/>
              <a:p>
                <a:pPr marL="114300" indent="0">
                  <a:buNone/>
                </a:pPr>
                <a:r>
                  <a:rPr lang="en-US" dirty="0">
                    <a:latin typeface="Times New Roman" panose="02020603050405020304" pitchFamily="18" charset="0"/>
                    <a:cs typeface="Times New Roman" panose="02020603050405020304" pitchFamily="18" charset="0"/>
                  </a:rPr>
                  <a:t>As we know the</a:t>
                </a:r>
              </a:p>
              <a:p>
                <a:pPr marL="114300" indent="0">
                  <a:buNone/>
                </a:pPr>
                <a:r>
                  <a:rPr lang="en-US" dirty="0" smtClean="0"/>
                  <a:t>                                         </a:t>
                </a:r>
                <a14:m>
                  <m:oMath xmlns:m="http://schemas.openxmlformats.org/officeDocument/2006/math">
                    <m:r>
                      <a:rPr lang="en-US" i="1">
                        <a:latin typeface="Cambria Math" panose="02040503050406030204" pitchFamily="18" charset="0"/>
                      </a:rPr>
                      <m:t>𝜎</m:t>
                    </m:r>
                  </m:oMath>
                </a14:m>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t>
                </a:r>
                <a:r>
                  <a:rPr lang="en-US" baseline="-25000" dirty="0" err="1">
                    <a:latin typeface="Times New Roman" panose="02020603050405020304" pitchFamily="18" charset="0"/>
                    <a:cs typeface="Times New Roman" panose="02020603050405020304" pitchFamily="18" charset="0"/>
                  </a:rPr>
                  <a:t>f</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𝑛𝑜𝑚</m:t>
                        </m:r>
                      </m:sub>
                    </m:sSub>
                  </m:oMath>
                </a14:m>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lgn="ctr">
                  <a:buNone/>
                </a:pPr>
                <a14:m>
                  <m:oMath xmlns:m="http://schemas.openxmlformats.org/officeDocument/2006/math">
                    <m:r>
                      <a:rPr lang="en-US" b="1" i="1">
                        <a:latin typeface="Cambria Math" panose="02040503050406030204" pitchFamily="18" charset="0"/>
                      </a:rPr>
                      <m:t>𝝈</m:t>
                    </m:r>
                  </m:oMath>
                </a14:m>
                <a:r>
                  <a:rPr lang="en-US" b="1" dirty="0">
                    <a:latin typeface="Times New Roman" panose="02020603050405020304" pitchFamily="18" charset="0"/>
                    <a:cs typeface="Times New Roman" panose="02020603050405020304" pitchFamily="18" charset="0"/>
                  </a:rPr>
                  <a:t>= 3.6797 MPa 		</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12)</a:t>
                </a: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r>
                  <a:rPr lang="en-US" dirty="0" smtClean="0">
                    <a:latin typeface="Times New Roman" panose="02020603050405020304" pitchFamily="18" charset="0"/>
                    <a:cs typeface="Times New Roman" panose="02020603050405020304" pitchFamily="18" charset="0"/>
                  </a:rPr>
                  <a:t>Now </a:t>
                </a:r>
                <a:r>
                  <a:rPr lang="en-US" dirty="0">
                    <a:latin typeface="Times New Roman" panose="02020603050405020304" pitchFamily="18" charset="0"/>
                    <a:cs typeface="Times New Roman" panose="02020603050405020304" pitchFamily="18" charset="0"/>
                  </a:rPr>
                  <a:t>according to the grid mesh independence table we selected </a:t>
                </a:r>
                <a:r>
                  <a:rPr lang="en-US" dirty="0" smtClean="0">
                    <a:latin typeface="Times New Roman" panose="02020603050405020304" pitchFamily="18" charset="0"/>
                    <a:cs typeface="Times New Roman" panose="02020603050405020304" pitchFamily="18" charset="0"/>
                  </a:rPr>
                  <a:t>the</a:t>
                </a:r>
              </a:p>
              <a:p>
                <a:pPr marL="114300" indent="0">
                  <a:buNone/>
                </a:pPr>
                <a:endParaRPr lang="en-US" dirty="0">
                  <a:latin typeface="Times New Roman" panose="02020603050405020304" pitchFamily="18" charset="0"/>
                  <a:cs typeface="Times New Roman" panose="02020603050405020304" pitchFamily="18" charset="0"/>
                </a:endParaRPr>
              </a:p>
              <a:p>
                <a:pPr marL="114300" indent="0" algn="ctr">
                  <a:buNone/>
                </a:pPr>
                <a14:m>
                  <m:oMath xmlns:m="http://schemas.openxmlformats.org/officeDocument/2006/math">
                    <m:r>
                      <a:rPr lang="en-US" b="1" i="1">
                        <a:latin typeface="Cambria Math" panose="02040503050406030204" pitchFamily="18" charset="0"/>
                      </a:rPr>
                      <m:t>𝝈</m:t>
                    </m:r>
                  </m:oMath>
                </a14:m>
                <a:r>
                  <a:rPr lang="en-US" b="1" baseline="-25000" dirty="0">
                    <a:latin typeface="Times New Roman" panose="02020603050405020304" pitchFamily="18" charset="0"/>
                    <a:cs typeface="Times New Roman" panose="02020603050405020304" pitchFamily="18" charset="0"/>
                  </a:rPr>
                  <a:t>sim </a:t>
                </a:r>
                <a:r>
                  <a:rPr lang="en-US" b="1" dirty="0">
                    <a:latin typeface="Times New Roman" panose="02020603050405020304" pitchFamily="18" charset="0"/>
                    <a:cs typeface="Times New Roman" panose="02020603050405020304" pitchFamily="18" charset="0"/>
                  </a:rPr>
                  <a:t>= 3.9 MPa </a:t>
                </a:r>
                <a:r>
                  <a:rPr 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(13)</a:t>
                </a:r>
              </a:p>
              <a:p>
                <a:pPr marL="114300" indent="0">
                  <a:buNone/>
                </a:pPr>
                <a:r>
                  <a:rPr lang="en-US" dirty="0">
                    <a:latin typeface="Times New Roman" panose="02020603050405020304" pitchFamily="18" charset="0"/>
                    <a:cs typeface="Times New Roman" panose="02020603050405020304" pitchFamily="18" charset="0"/>
                  </a:rPr>
                  <a:t>Now find the error by using the %</a:t>
                </a:r>
                <a:r>
                  <a:rPr lang="en-US" dirty="0" smtClean="0">
                    <a:latin typeface="Times New Roman" panose="02020603050405020304" pitchFamily="18" charset="0"/>
                    <a:cs typeface="Times New Roman" panose="02020603050405020304" pitchFamily="18" charset="0"/>
                  </a:rPr>
                  <a:t>error</a:t>
                </a:r>
              </a:p>
              <a:p>
                <a:pPr marL="114300" indent="0" algn="ctr">
                  <a:buNone/>
                </a:pPr>
                <a:endParaRPr lang="en-US" dirty="0">
                  <a:latin typeface="Times New Roman" panose="02020603050405020304" pitchFamily="18" charset="0"/>
                  <a:cs typeface="Times New Roman" panose="02020603050405020304" pitchFamily="18" charset="0"/>
                </a:endParaRPr>
              </a:p>
              <a:p>
                <a:pPr marL="114300"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Error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3.9−3.6</m:t>
                        </m:r>
                      </m:num>
                      <m:den>
                        <m:r>
                          <a:rPr lang="en-US" i="1">
                            <a:latin typeface="Cambria Math" panose="02040503050406030204" pitchFamily="18" charset="0"/>
                          </a:rPr>
                          <m:t>3.9</m:t>
                        </m:r>
                      </m:den>
                    </m:f>
                  </m:oMath>
                </a14:m>
                <a:r>
                  <a:rPr lang="en-US" dirty="0">
                    <a:latin typeface="Times New Roman" panose="02020603050405020304" pitchFamily="18" charset="0"/>
                    <a:cs typeface="Times New Roman" panose="02020603050405020304" pitchFamily="18" charset="0"/>
                  </a:rPr>
                  <a:t> x 100</a:t>
                </a:r>
              </a:p>
              <a:p>
                <a:pPr marL="114300" indent="0">
                  <a:buNone/>
                </a:pP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Error = 5.20%</a:t>
                </a:r>
                <a:endParaRPr lang="en-US" dirty="0">
                  <a:latin typeface="Times New Roman" panose="02020603050405020304" pitchFamily="18" charset="0"/>
                  <a:cs typeface="Times New Roman" panose="02020603050405020304" pitchFamily="18" charset="0"/>
                </a:endParaRPr>
              </a:p>
              <a:p>
                <a:pPr marL="114300" indent="0" algn="ctr">
                  <a:buNone/>
                </a:pPr>
                <a:r>
                  <a:rPr lang="en-US" dirty="0">
                    <a:latin typeface="Times New Roman" panose="02020603050405020304" pitchFamily="18" charset="0"/>
                    <a:cs typeface="Times New Roman" panose="02020603050405020304" pitchFamily="18" charset="0"/>
                  </a:rPr>
                  <a:t> </a:t>
                </a:r>
              </a:p>
              <a:p>
                <a:pPr marL="114300" indent="0" algn="ctr">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a:p>
                <a:endParaRPr lang="en-US" dirty="0"/>
              </a:p>
            </p:txBody>
          </p:sp>
        </mc:Choice>
        <mc:Fallback>
          <p:sp>
            <p:nvSpPr>
              <p:cNvPr id="3" name="TextBox 2"/>
              <p:cNvSpPr txBox="1">
                <a:spLocks noRot="1" noChangeAspect="1" noMove="1" noResize="1" noEditPoints="1" noAdjustHandles="1" noChangeArrowheads="1" noChangeShapeType="1" noTextEdit="1"/>
              </p:cNvSpPr>
              <p:nvPr/>
            </p:nvSpPr>
            <p:spPr>
              <a:xfrm>
                <a:off x="872359" y="1127747"/>
                <a:ext cx="7262648" cy="3629776"/>
              </a:xfrm>
              <a:prstGeom prst="rect">
                <a:avLst/>
              </a:prstGeom>
              <a:blipFill>
                <a:blip r:embed="rId4"/>
                <a:stretch>
                  <a:fillRect t="-336"/>
                </a:stretch>
              </a:blipFill>
            </p:spPr>
            <p:txBody>
              <a:bodyPr/>
              <a:lstStyle/>
              <a:p>
                <a:r>
                  <a:rPr lang="en-US">
                    <a:noFill/>
                  </a:rPr>
                  <a:t> </a:t>
                </a:r>
              </a:p>
            </p:txBody>
          </p:sp>
        </mc:Fallback>
      </mc:AlternateContent>
    </p:spTree>
    <p:extLst>
      <p:ext uri="{BB962C8B-B14F-4D97-AF65-F5344CB8AC3E}">
        <p14:creationId xmlns:p14="http://schemas.microsoft.com/office/powerpoint/2010/main" val="404980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txBox="1">
            <a:spLocks noGrp="1"/>
          </p:cNvSpPr>
          <p:nvPr>
            <p:ph type="title"/>
          </p:nvPr>
        </p:nvSpPr>
        <p:spPr>
          <a:xfrm>
            <a:off x="1008758" y="237744"/>
            <a:ext cx="8012400" cy="684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smtClean="0">
                <a:latin typeface="Times New Roman" panose="02020603050405020304" pitchFamily="18" charset="0"/>
                <a:ea typeface="Arial"/>
                <a:cs typeface="Times New Roman" panose="02020603050405020304" pitchFamily="18" charset="0"/>
                <a:sym typeface="Arial"/>
              </a:rPr>
              <a:t>CAD </a:t>
            </a:r>
            <a:r>
              <a:rPr lang="en-US" sz="1600" b="1" dirty="0" smtClean="0">
                <a:latin typeface="Times New Roman" panose="02020603050405020304" pitchFamily="18" charset="0"/>
                <a:ea typeface="Arial"/>
                <a:cs typeface="Times New Roman" panose="02020603050405020304" pitchFamily="18" charset="0"/>
                <a:sym typeface="Arial"/>
              </a:rPr>
              <a:t>MODELLING</a:t>
            </a:r>
            <a:r>
              <a:rPr lang="en-US" sz="1600" b="1" dirty="0">
                <a:latin typeface="Times New Roman" panose="02020603050405020304" pitchFamily="18" charset="0"/>
                <a:ea typeface="Arial"/>
                <a:cs typeface="Times New Roman" panose="02020603050405020304" pitchFamily="18" charset="0"/>
                <a:sym typeface="Arial"/>
              </a:rPr>
              <a:t>:</a:t>
            </a:r>
            <a:endParaRPr sz="1600" dirty="0">
              <a:latin typeface="Times New Roman" panose="02020603050405020304" pitchFamily="18" charset="0"/>
              <a:cs typeface="Times New Roman" panose="02020603050405020304" pitchFamily="18" charset="0"/>
            </a:endParaRPr>
          </a:p>
        </p:txBody>
      </p:sp>
      <p:sp>
        <p:nvSpPr>
          <p:cNvPr id="227" name="Google Shape;227;p32"/>
          <p:cNvSpPr txBox="1">
            <a:spLocks noGrp="1"/>
          </p:cNvSpPr>
          <p:nvPr>
            <p:ph type="body" idx="1"/>
          </p:nvPr>
        </p:nvSpPr>
        <p:spPr>
          <a:xfrm>
            <a:off x="128016" y="1111250"/>
            <a:ext cx="8520600" cy="2944800"/>
          </a:xfrm>
          <a:prstGeom prst="rect">
            <a:avLst/>
          </a:prstGeom>
          <a:noFill/>
          <a:ln>
            <a:noFill/>
          </a:ln>
        </p:spPr>
        <p:txBody>
          <a:bodyPr spcFirstLastPara="1" wrap="square" lIns="91425" tIns="91425" rIns="91425" bIns="91425" anchor="t" anchorCtr="0">
            <a:noAutofit/>
          </a:bodyPr>
          <a:lstStyle/>
          <a:p>
            <a:pPr marL="120650" indent="0">
              <a:buSzPts val="1700"/>
              <a:buNone/>
            </a:pPr>
            <a:r>
              <a:rPr lang="en-US" sz="1400" b="1" dirty="0">
                <a:latin typeface="Times New Roman" panose="02020603050405020304" pitchFamily="18" charset="0"/>
                <a:cs typeface="Times New Roman" panose="02020603050405020304" pitchFamily="18" charset="0"/>
              </a:rPr>
              <a:t>Simulation of Stresses </a:t>
            </a:r>
            <a:r>
              <a:rPr lang="en-US" sz="1400" b="1" dirty="0" smtClean="0">
                <a:latin typeface="Times New Roman" panose="02020603050405020304" pitchFamily="18" charset="0"/>
                <a:cs typeface="Times New Roman" panose="02020603050405020304" pitchFamily="18" charset="0"/>
              </a:rPr>
              <a:t>Analysis</a:t>
            </a:r>
            <a:r>
              <a:rPr lang="en-US" sz="16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marL="457200" lvl="0" indent="-336550" algn="l" rtl="0">
              <a:lnSpc>
                <a:spcPct val="115000"/>
              </a:lnSpc>
              <a:spcBef>
                <a:spcPts val="0"/>
              </a:spcBef>
              <a:spcAft>
                <a:spcPts val="0"/>
              </a:spcAft>
              <a:buSzPts val="1700"/>
              <a:buFont typeface="Arial"/>
              <a:buChar char="●"/>
            </a:pPr>
            <a:endParaRPr lang="en-US" sz="1400" b="1" dirty="0" smtClean="0">
              <a:latin typeface="Times New Roman" panose="02020603050405020304" pitchFamily="18" charset="0"/>
              <a:ea typeface="Arial"/>
              <a:cs typeface="Times New Roman" panose="02020603050405020304" pitchFamily="18" charset="0"/>
              <a:sym typeface="Arial"/>
            </a:endParaRPr>
          </a:p>
          <a:p>
            <a:pPr marL="457200" lvl="0" indent="-336550" algn="l" rtl="0">
              <a:lnSpc>
                <a:spcPct val="115000"/>
              </a:lnSpc>
              <a:spcBef>
                <a:spcPts val="0"/>
              </a:spcBef>
              <a:spcAft>
                <a:spcPts val="0"/>
              </a:spcAft>
              <a:buSzPts val="1700"/>
              <a:buFont typeface="Arial"/>
              <a:buChar char="●"/>
            </a:pPr>
            <a:endParaRPr sz="1400" b="1" dirty="0">
              <a:latin typeface="Times New Roman" panose="02020603050405020304" pitchFamily="18" charset="0"/>
              <a:ea typeface="Arial"/>
              <a:cs typeface="Times New Roman" panose="02020603050405020304" pitchFamily="18" charset="0"/>
              <a:sym typeface="Arial"/>
            </a:endParaRPr>
          </a:p>
        </p:txBody>
      </p:sp>
      <p:pic>
        <p:nvPicPr>
          <p:cNvPr id="228" name="Google Shape;228;p32"/>
          <p:cNvPicPr preferRelativeResize="0"/>
          <p:nvPr/>
        </p:nvPicPr>
        <p:blipFill rotWithShape="1">
          <a:blip r:embed="rId3">
            <a:alphaModFix/>
          </a:blip>
          <a:srcRect l="23160" t="21567" r="26840" b="15626"/>
          <a:stretch/>
        </p:blipFill>
        <p:spPr>
          <a:xfrm>
            <a:off x="128016" y="237744"/>
            <a:ext cx="882462" cy="861848"/>
          </a:xfrm>
          <a:prstGeom prst="rect">
            <a:avLst/>
          </a:prstGeom>
          <a:noFill/>
          <a:ln>
            <a:noFill/>
          </a:ln>
        </p:spPr>
      </p:pic>
      <p:sp>
        <p:nvSpPr>
          <p:cNvPr id="229" name="Google Shape;229;p32"/>
          <p:cNvSpPr/>
          <p:nvPr/>
        </p:nvSpPr>
        <p:spPr>
          <a:xfrm>
            <a:off x="1662788" y="4809243"/>
            <a:ext cx="68265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3" name="Picture 2"/>
          <p:cNvPicPr>
            <a:picLocks noChangeAspect="1"/>
          </p:cNvPicPr>
          <p:nvPr/>
        </p:nvPicPr>
        <p:blipFill>
          <a:blip r:embed="rId4"/>
          <a:stretch>
            <a:fillRect/>
          </a:stretch>
        </p:blipFill>
        <p:spPr>
          <a:xfrm>
            <a:off x="2349726" y="1621940"/>
            <a:ext cx="4591691" cy="29055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3"/>
          <p:cNvSpPr txBox="1">
            <a:spLocks noGrp="1"/>
          </p:cNvSpPr>
          <p:nvPr>
            <p:ph type="title"/>
          </p:nvPr>
        </p:nvSpPr>
        <p:spPr>
          <a:xfrm>
            <a:off x="1069848" y="182880"/>
            <a:ext cx="8012400" cy="684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US" sz="1600" b="1" dirty="0" smtClean="0">
                <a:latin typeface="Times New Roman" panose="02020603050405020304" pitchFamily="18" charset="0"/>
                <a:ea typeface="Arial"/>
                <a:cs typeface="Times New Roman" panose="02020603050405020304" pitchFamily="18" charset="0"/>
                <a:sym typeface="Arial"/>
              </a:rPr>
              <a:t>CAD </a:t>
            </a:r>
            <a:r>
              <a:rPr lang="en-US" sz="1600" b="1" dirty="0" smtClean="0">
                <a:latin typeface="Times New Roman" panose="02020603050405020304" pitchFamily="18" charset="0"/>
                <a:ea typeface="Arial"/>
                <a:cs typeface="Times New Roman" panose="02020603050405020304" pitchFamily="18" charset="0"/>
                <a:sym typeface="Arial"/>
              </a:rPr>
              <a:t>MODELLING</a:t>
            </a:r>
            <a:r>
              <a:rPr lang="en-US" sz="1600" b="1" dirty="0">
                <a:latin typeface="Times New Roman" panose="02020603050405020304" pitchFamily="18" charset="0"/>
                <a:ea typeface="Arial"/>
                <a:cs typeface="Times New Roman" panose="02020603050405020304" pitchFamily="18" charset="0"/>
                <a:sym typeface="Arial"/>
              </a:rPr>
              <a:t>:</a:t>
            </a:r>
            <a:endParaRPr sz="1600" dirty="0">
              <a:latin typeface="Times New Roman" panose="02020603050405020304" pitchFamily="18" charset="0"/>
              <a:cs typeface="Times New Roman" panose="02020603050405020304" pitchFamily="18" charset="0"/>
            </a:endParaRPr>
          </a:p>
        </p:txBody>
      </p:sp>
      <p:sp>
        <p:nvSpPr>
          <p:cNvPr id="236" name="Google Shape;236;p33"/>
          <p:cNvSpPr txBox="1">
            <a:spLocks noGrp="1"/>
          </p:cNvSpPr>
          <p:nvPr>
            <p:ph type="body" idx="1"/>
          </p:nvPr>
        </p:nvSpPr>
        <p:spPr>
          <a:xfrm>
            <a:off x="128025" y="1225225"/>
            <a:ext cx="8520600" cy="2944800"/>
          </a:xfrm>
          <a:prstGeom prst="rect">
            <a:avLst/>
          </a:prstGeom>
          <a:noFill/>
          <a:ln>
            <a:noFill/>
          </a:ln>
        </p:spPr>
        <p:txBody>
          <a:bodyPr spcFirstLastPara="1" wrap="square" lIns="91425" tIns="91425" rIns="91425" bIns="91425" anchor="t" anchorCtr="0">
            <a:noAutofit/>
          </a:bodyPr>
          <a:lstStyle/>
          <a:p>
            <a:pPr indent="-336550">
              <a:buSzPts val="1700"/>
              <a:buFont typeface="Arial"/>
              <a:buChar char="●"/>
            </a:pPr>
            <a:r>
              <a:rPr lang="en-US" sz="1400" b="1" dirty="0">
                <a:latin typeface="Times New Roman" panose="02020603050405020304" pitchFamily="18" charset="0"/>
                <a:cs typeface="Times New Roman" panose="02020603050405020304" pitchFamily="18" charset="0"/>
              </a:rPr>
              <a:t>Von Mises Stresses with and Without Notches </a:t>
            </a:r>
            <a:r>
              <a:rPr lang="en-US" sz="1400" b="1" dirty="0" smtClean="0">
                <a:latin typeface="Times New Roman" panose="02020603050405020304" pitchFamily="18" charset="0"/>
                <a:ea typeface="Arial"/>
                <a:cs typeface="Times New Roman" panose="02020603050405020304" pitchFamily="18" charset="0"/>
                <a:sym typeface="Arial"/>
              </a:rPr>
              <a:t>Simulation</a:t>
            </a:r>
            <a:r>
              <a:rPr lang="en-US" sz="1400" b="1" dirty="0" smtClean="0">
                <a:latin typeface="Arial"/>
                <a:ea typeface="Arial"/>
                <a:cs typeface="Arial"/>
                <a:sym typeface="Arial"/>
              </a:rPr>
              <a:t>:</a:t>
            </a:r>
            <a:endParaRPr sz="1400" b="1" dirty="0">
              <a:latin typeface="Arial"/>
              <a:ea typeface="Arial"/>
              <a:cs typeface="Arial"/>
              <a:sym typeface="Arial"/>
            </a:endParaRPr>
          </a:p>
        </p:txBody>
      </p:sp>
      <p:pic>
        <p:nvPicPr>
          <p:cNvPr id="237" name="Google Shape;237;p33"/>
          <p:cNvPicPr preferRelativeResize="0"/>
          <p:nvPr/>
        </p:nvPicPr>
        <p:blipFill rotWithShape="1">
          <a:blip r:embed="rId3">
            <a:alphaModFix/>
          </a:blip>
          <a:srcRect l="23160" t="21567" r="26840" b="15626"/>
          <a:stretch/>
        </p:blipFill>
        <p:spPr>
          <a:xfrm>
            <a:off x="128016" y="237744"/>
            <a:ext cx="882462" cy="861848"/>
          </a:xfrm>
          <a:prstGeom prst="rect">
            <a:avLst/>
          </a:prstGeom>
          <a:noFill/>
          <a:ln>
            <a:noFill/>
          </a:ln>
        </p:spPr>
      </p:pic>
      <p:sp>
        <p:nvSpPr>
          <p:cNvPr id="238" name="Google Shape;238;p33"/>
          <p:cNvSpPr/>
          <p:nvPr/>
        </p:nvSpPr>
        <p:spPr>
          <a:xfrm>
            <a:off x="1662788" y="4809243"/>
            <a:ext cx="68265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a:solidFill>
                  <a:schemeClr val="dk1"/>
                </a:solidFill>
                <a:latin typeface="Arial"/>
                <a:ea typeface="Arial"/>
                <a:cs typeface="Arial"/>
                <a:sym typeface="Arial"/>
              </a:rPr>
              <a:t>               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3" name="Picture 2"/>
          <p:cNvPicPr>
            <a:picLocks noChangeAspect="1"/>
          </p:cNvPicPr>
          <p:nvPr/>
        </p:nvPicPr>
        <p:blipFill>
          <a:blip r:embed="rId4"/>
          <a:stretch>
            <a:fillRect/>
          </a:stretch>
        </p:blipFill>
        <p:spPr>
          <a:xfrm>
            <a:off x="693926" y="1647338"/>
            <a:ext cx="3940747" cy="2381582"/>
          </a:xfrm>
          <a:prstGeom prst="rect">
            <a:avLst/>
          </a:prstGeom>
        </p:spPr>
      </p:pic>
      <p:pic>
        <p:nvPicPr>
          <p:cNvPr id="4" name="Picture 3"/>
          <p:cNvPicPr>
            <a:picLocks noChangeAspect="1"/>
          </p:cNvPicPr>
          <p:nvPr/>
        </p:nvPicPr>
        <p:blipFill>
          <a:blip r:embed="rId5"/>
          <a:stretch>
            <a:fillRect/>
          </a:stretch>
        </p:blipFill>
        <p:spPr>
          <a:xfrm>
            <a:off x="4762889" y="1647338"/>
            <a:ext cx="4258269" cy="23815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886" y="167548"/>
            <a:ext cx="8520600" cy="831300"/>
          </a:xfrm>
          <a:ln>
            <a:noFill/>
          </a:ln>
        </p:spPr>
        <p:txBody>
          <a:bodyPr/>
          <a:lstStyle/>
          <a:p>
            <a:r>
              <a:rPr lang="en-US" dirty="0"/>
              <a:t> </a:t>
            </a:r>
            <a:r>
              <a:rPr lang="en-US" sz="1600" b="1" dirty="0" smtClean="0">
                <a:latin typeface="Times New Roman" panose="02020603050405020304" pitchFamily="18" charset="0"/>
                <a:cs typeface="Times New Roman" panose="02020603050405020304" pitchFamily="18" charset="0"/>
              </a:rPr>
              <a:t>HARDWARE SETUP:</a:t>
            </a:r>
            <a:endParaRPr lang="en-US" sz="16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Google Shape;237;p33"/>
          <p:cNvPicPr preferRelativeResize="0"/>
          <p:nvPr/>
        </p:nvPicPr>
        <p:blipFill rotWithShape="1">
          <a:blip r:embed="rId2">
            <a:alphaModFix/>
          </a:blip>
          <a:srcRect l="23160" t="21567" r="26840" b="15626"/>
          <a:stretch/>
        </p:blipFill>
        <p:spPr>
          <a:xfrm>
            <a:off x="128016" y="237744"/>
            <a:ext cx="882462" cy="861848"/>
          </a:xfrm>
          <a:prstGeom prst="rect">
            <a:avLst/>
          </a:prstGeom>
          <a:noFill/>
          <a:ln>
            <a:noFill/>
          </a:ln>
        </p:spPr>
      </p:pic>
      <p:sp>
        <p:nvSpPr>
          <p:cNvPr id="10" name="Google Shape;255;p35"/>
          <p:cNvSpPr/>
          <p:nvPr/>
        </p:nvSpPr>
        <p:spPr>
          <a:xfrm>
            <a:off x="2217682" y="4811830"/>
            <a:ext cx="7441324" cy="2308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900" b="1" i="0" u="none" strike="noStrike" cap="none" dirty="0">
                <a:solidFill>
                  <a:schemeClr val="dk1"/>
                </a:solidFill>
                <a:latin typeface="Arial"/>
                <a:ea typeface="Arial"/>
                <a:cs typeface="Arial"/>
                <a:sym typeface="Arial"/>
              </a:rPr>
              <a:t>Department of Mechatronics &amp; Biomedical Engineering, Air University, Pakistan</a:t>
            </a:r>
            <a:endParaRPr sz="900" b="1" i="0" u="none" strike="noStrike" cap="none" dirty="0">
              <a:solidFill>
                <a:schemeClr val="dk1"/>
              </a:solidFill>
              <a:latin typeface="Arial"/>
              <a:ea typeface="Arial"/>
              <a:cs typeface="Arial"/>
              <a:sym typeface="Arial"/>
            </a:endParaRPr>
          </a:p>
        </p:txBody>
      </p:sp>
      <p:pic>
        <p:nvPicPr>
          <p:cNvPr id="3" name="Picture 2"/>
          <p:cNvPicPr>
            <a:picLocks noChangeAspect="1"/>
          </p:cNvPicPr>
          <p:nvPr/>
        </p:nvPicPr>
        <p:blipFill>
          <a:blip r:embed="rId3"/>
          <a:stretch>
            <a:fillRect/>
          </a:stretch>
        </p:blipFill>
        <p:spPr>
          <a:xfrm>
            <a:off x="483476" y="1223052"/>
            <a:ext cx="3436239" cy="3317418"/>
          </a:xfrm>
          <a:prstGeom prst="rect">
            <a:avLst/>
          </a:prstGeom>
        </p:spPr>
      </p:pic>
      <p:pic>
        <p:nvPicPr>
          <p:cNvPr id="8" name="Picture 7"/>
          <p:cNvPicPr>
            <a:picLocks noChangeAspect="1"/>
          </p:cNvPicPr>
          <p:nvPr/>
        </p:nvPicPr>
        <p:blipFill>
          <a:blip r:embed="rId4"/>
          <a:stretch>
            <a:fillRect/>
          </a:stretch>
        </p:blipFill>
        <p:spPr>
          <a:xfrm>
            <a:off x="4477407" y="1233560"/>
            <a:ext cx="3258207" cy="3306909"/>
          </a:xfrm>
          <a:prstGeom prst="rect">
            <a:avLst/>
          </a:prstGeom>
        </p:spPr>
      </p:pic>
    </p:spTree>
    <p:extLst>
      <p:ext uri="{BB962C8B-B14F-4D97-AF65-F5344CB8AC3E}">
        <p14:creationId xmlns:p14="http://schemas.microsoft.com/office/powerpoint/2010/main" val="2242107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p:nvPr/>
        </p:nvSpPr>
        <p:spPr>
          <a:xfrm>
            <a:off x="2726250" y="1323000"/>
            <a:ext cx="3691500" cy="1933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37"/>
          <p:cNvSpPr txBox="1">
            <a:spLocks noGrp="1"/>
          </p:cNvSpPr>
          <p:nvPr>
            <p:ph type="body" idx="1"/>
          </p:nvPr>
        </p:nvSpPr>
        <p:spPr>
          <a:xfrm>
            <a:off x="311700" y="0"/>
            <a:ext cx="8520600" cy="4579200"/>
          </a:xfrm>
          <a:prstGeom prst="rect">
            <a:avLst/>
          </a:prstGeom>
          <a:noFill/>
          <a:ln>
            <a:noFill/>
          </a:ln>
        </p:spPr>
        <p:txBody>
          <a:bodyPr spcFirstLastPara="1" wrap="square" lIns="91425" tIns="91425" rIns="91425" bIns="91425" anchor="ctr" anchorCtr="0">
            <a:normAutofit/>
          </a:bodyPr>
          <a:lstStyle/>
          <a:p>
            <a:pPr marL="0" lvl="0" indent="0" algn="ctr" rtl="0">
              <a:lnSpc>
                <a:spcPct val="115000"/>
              </a:lnSpc>
              <a:spcBef>
                <a:spcPts val="0"/>
              </a:spcBef>
              <a:spcAft>
                <a:spcPts val="1200"/>
              </a:spcAft>
              <a:buSzPts val="1800"/>
              <a:buNone/>
            </a:pPr>
            <a:r>
              <a:rPr lang="en-US" sz="2800" b="1">
                <a:latin typeface="Arial"/>
                <a:ea typeface="Arial"/>
                <a:cs typeface="Arial"/>
                <a:sym typeface="Arial"/>
              </a:rPr>
              <a:t>THANK YOU</a:t>
            </a:r>
            <a:endParaRPr sz="2800" b="1">
              <a:latin typeface="Arial"/>
              <a:ea typeface="Arial"/>
              <a:cs typeface="Arial"/>
              <a:sym typeface="Arial"/>
            </a:endParaRPr>
          </a:p>
        </p:txBody>
      </p:sp>
      <p:sp>
        <p:nvSpPr>
          <p:cNvPr id="270" name="Google Shape;270;p37"/>
          <p:cNvSpPr/>
          <p:nvPr/>
        </p:nvSpPr>
        <p:spPr>
          <a:xfrm>
            <a:off x="2180895" y="4643437"/>
            <a:ext cx="7236373"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a:solidFill>
                  <a:srgbClr val="A5A5A5"/>
                </a:solidFill>
                <a:latin typeface="Arial"/>
                <a:ea typeface="Arial"/>
                <a:cs typeface="Arial"/>
                <a:sym typeface="Arial"/>
              </a:rPr>
              <a:t>      </a:t>
            </a:r>
            <a:r>
              <a:rPr lang="en-US" sz="900" b="1" i="0" u="none" strike="noStrike" cap="none">
                <a:solidFill>
                  <a:schemeClr val="dk1"/>
                </a:solidFill>
                <a:latin typeface="Arial"/>
                <a:ea typeface="Arial"/>
                <a:cs typeface="Arial"/>
                <a:sym typeface="Arial"/>
              </a:rPr>
              <a:t>Department of Mechatronics &amp; Biomedical Engineering, Air University, Pakistan</a:t>
            </a:r>
            <a:endParaRPr sz="900" b="1" i="0" u="none" strike="noStrike" cap="none">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TotalTime>
  <Words>1137</Words>
  <Application>Microsoft Office PowerPoint</Application>
  <PresentationFormat>On-screen Show (16:9)</PresentationFormat>
  <Paragraphs>124</Paragraphs>
  <Slides>17</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Economica</vt:lpstr>
      <vt:lpstr>TiIME</vt:lpstr>
      <vt:lpstr>Arial</vt:lpstr>
      <vt:lpstr>Cambria Math</vt:lpstr>
      <vt:lpstr>Open Sans</vt:lpstr>
      <vt:lpstr>Times New Roman</vt:lpstr>
      <vt:lpstr>Jacques Francois Shadow</vt:lpstr>
      <vt:lpstr>TimeE</vt:lpstr>
      <vt:lpstr>Luxe</vt:lpstr>
      <vt:lpstr>بِسْمِ اللهِ الرَّحْمٰنِ الرَّحِيْمِ</vt:lpstr>
      <vt:lpstr>DESIGN OF MACHINES  PRESENTATION  ZIP LINE PULLY MECHANISM </vt:lpstr>
      <vt:lpstr>PowerPoint Presentation</vt:lpstr>
      <vt:lpstr>  INTRODUCTION ZIP LINE PULLY MECHANISM </vt:lpstr>
      <vt:lpstr>LITERATURE REVIEW</vt:lpstr>
      <vt:lpstr>PROBLEM STATEMENT:</vt:lpstr>
      <vt:lpstr>PROJECT OBJECTIVE:</vt:lpstr>
      <vt:lpstr>SCOPE:</vt:lpstr>
      <vt:lpstr>METHODOLOGY</vt:lpstr>
      <vt:lpstr>PRODUCT SPECIFICATIONS:</vt:lpstr>
      <vt:lpstr>CALCULATION:</vt:lpstr>
      <vt:lpstr>CALCULATION:</vt:lpstr>
      <vt:lpstr>CALCULATION:</vt:lpstr>
      <vt:lpstr>CAD MODELLING:</vt:lpstr>
      <vt:lpstr>CAD MODELLING:</vt:lpstr>
      <vt:lpstr> HARDWARE SETUP: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بِسْمِ اللهِ الرَّحْمٰنِ الرَّحِيْمِ</dc:title>
  <dc:creator>lenovo</dc:creator>
  <cp:lastModifiedBy>lenovo</cp:lastModifiedBy>
  <cp:revision>35</cp:revision>
  <dcterms:modified xsi:type="dcterms:W3CDTF">2023-12-29T07:04:36Z</dcterms:modified>
</cp:coreProperties>
</file>