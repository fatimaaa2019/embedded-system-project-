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Raleway" panose="020B0604020202020204" charset="0"/>
      <p:regular r:id="rId18"/>
      <p:bold r:id="rId19"/>
      <p:italic r:id="rId20"/>
      <p:boldItalic r:id="rId21"/>
    </p:embeddedFont>
    <p:embeddedFont>
      <p:font typeface="Lato"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786"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a2eab04696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a2eab04696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a2eab04696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a2eab04696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a2eab04696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a2eab04696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a2eab04696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a2eab04696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a92ccfdf0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a92ccfdf0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a92ccfdf0b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a92ccfdf0b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a2eab04696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a2eab04696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a2eab04696_0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a2eab04696_0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a2eab04696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a2eab04696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a2eab04696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a2eab04696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a2eab04696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a2eab04696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a2eab04696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a2eab04696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2a2eab04696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2a2eab04696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a2eab04696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a2eab04696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71490" y="1322450"/>
            <a:ext cx="7699847" cy="2713522"/>
          </a:xfrm>
          <a:prstGeom prst="rect">
            <a:avLst/>
          </a:prstGeom>
        </p:spPr>
        <p:txBody>
          <a:bodyPr spcFirstLastPara="1" wrap="square" lIns="91425" tIns="91425" rIns="91425" bIns="91425" anchor="t" anchorCtr="0">
            <a:normAutofit/>
          </a:bodyPr>
          <a:lstStyle/>
          <a:p>
            <a:pPr lvl="0"/>
            <a:r>
              <a:rPr lang="en-US" sz="3600" dirty="0"/>
              <a:t>MICROCONTROLLER </a:t>
            </a:r>
            <a:r>
              <a:rPr lang="en-US" sz="3600" dirty="0" smtClean="0"/>
              <a:t>BASED </a:t>
            </a:r>
            <a:r>
              <a:rPr lang="en-US" sz="3600" dirty="0"/>
              <a:t>OBSTACLE AVOIDING ROBOT</a:t>
            </a:r>
            <a:endParaRPr sz="3600" dirty="0"/>
          </a:p>
          <a:p>
            <a:pPr marL="0" lvl="0" indent="0" algn="l" rtl="0">
              <a:spcBef>
                <a:spcPts val="0"/>
              </a:spcBef>
              <a:spcAft>
                <a:spcPts val="0"/>
              </a:spcAft>
              <a:buNone/>
            </a:pPr>
            <a:r>
              <a:rPr lang="en" sz="2700" dirty="0"/>
              <a:t>Group Members: Fatima </a:t>
            </a:r>
            <a:r>
              <a:rPr lang="en" sz="2700" dirty="0" smtClean="0"/>
              <a:t>Nazir</a:t>
            </a:r>
            <a:r>
              <a:rPr lang="en" sz="2700" dirty="0"/>
              <a:t>, Ayesha Khan</a:t>
            </a:r>
            <a:endParaRPr sz="2700" dirty="0"/>
          </a:p>
          <a:p>
            <a:pPr marL="0" lvl="0" indent="0" algn="l" rtl="0">
              <a:spcBef>
                <a:spcPts val="0"/>
              </a:spcBef>
              <a:spcAft>
                <a:spcPts val="0"/>
              </a:spcAft>
              <a:buNone/>
            </a:pPr>
            <a:r>
              <a:rPr lang="en" sz="2700" dirty="0"/>
              <a:t>Submitted to: Dr. Raheel Qureshi</a:t>
            </a:r>
            <a:endParaRPr sz="2700" dirty="0"/>
          </a:p>
          <a:p>
            <a:pPr marL="0" lvl="0" indent="0" algn="l" rtl="0">
              <a:spcBef>
                <a:spcPts val="0"/>
              </a:spcBef>
              <a:spcAft>
                <a:spcPts val="0"/>
              </a:spcAft>
              <a:buNone/>
            </a:pPr>
            <a:endParaRPr sz="2533" dirty="0"/>
          </a:p>
          <a:p>
            <a:pPr marL="0" lvl="0" indent="0" algn="l" rtl="0">
              <a:spcBef>
                <a:spcPts val="0"/>
              </a:spcBef>
              <a:spcAft>
                <a:spcPts val="0"/>
              </a:spcAft>
              <a:buNone/>
            </a:pPr>
            <a:endParaRPr sz="264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INTRODUCTION</a:t>
            </a:r>
            <a:endParaRPr/>
          </a:p>
        </p:txBody>
      </p:sp>
      <p:sp>
        <p:nvSpPr>
          <p:cNvPr id="92" name="Google Shape;92;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0"/>
              </a:spcAft>
              <a:buNone/>
            </a:pPr>
            <a:r>
              <a:rPr lang="en" sz="6900" b="1">
                <a:solidFill>
                  <a:srgbClr val="000000"/>
                </a:solidFill>
                <a:latin typeface="Raleway"/>
                <a:ea typeface="Raleway"/>
                <a:cs typeface="Raleway"/>
                <a:sym typeface="Raleway"/>
              </a:rPr>
              <a:t>The automatic obstacle avoiding robot is a smart robot built using an arduino uno, an ultrasonic sensor and wheel actuators. </a:t>
            </a:r>
            <a:endParaRPr sz="6900" b="1">
              <a:solidFill>
                <a:srgbClr val="000000"/>
              </a:solidFill>
              <a:latin typeface="Raleway"/>
              <a:ea typeface="Raleway"/>
              <a:cs typeface="Raleway"/>
              <a:sym typeface="Raleway"/>
            </a:endParaRPr>
          </a:p>
          <a:p>
            <a:pPr marL="0" lvl="0" indent="0" algn="l" rtl="0">
              <a:spcBef>
                <a:spcPts val="1200"/>
              </a:spcBef>
              <a:spcAft>
                <a:spcPts val="0"/>
              </a:spcAft>
              <a:buNone/>
            </a:pPr>
            <a:r>
              <a:rPr lang="en" sz="6900" b="1">
                <a:solidFill>
                  <a:srgbClr val="000000"/>
                </a:solidFill>
                <a:latin typeface="Raleway"/>
                <a:ea typeface="Raleway"/>
                <a:cs typeface="Raleway"/>
                <a:sym typeface="Raleway"/>
              </a:rPr>
              <a:t>The code consists of two parts, the setup() function, which runs only one time and is used to initialize the direction of the servo motor to a forward facing (90 degree) angle. The loop () function, which runs an infinite number of times and is used to move the robot in forward direction while also continuously reading the distance of ultrasonic sensor from any nearby obstacle (if present). Some other additional user defined functions are also implemented to move forward or backward and make turns.</a:t>
            </a:r>
            <a:endParaRPr sz="6900" b="1">
              <a:solidFill>
                <a:srgbClr val="000000"/>
              </a:solidFill>
              <a:latin typeface="Raleway"/>
              <a:ea typeface="Raleway"/>
              <a:cs typeface="Raleway"/>
              <a:sym typeface="Raleway"/>
            </a:endParaRPr>
          </a:p>
          <a:p>
            <a:pPr marL="0" lvl="0" indent="0" algn="l" rtl="0">
              <a:spcBef>
                <a:spcPts val="1200"/>
              </a:spcBef>
              <a:spcAft>
                <a:spcPts val="1200"/>
              </a:spcAft>
              <a:buNone/>
            </a:pP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AIMS AND OBJECTIVES</a:t>
            </a:r>
            <a:endParaRPr/>
          </a:p>
        </p:txBody>
      </p:sp>
      <p:sp>
        <p:nvSpPr>
          <p:cNvPr id="98" name="Google Shape;98;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47027" algn="l" rtl="0">
              <a:lnSpc>
                <a:spcPct val="95000"/>
              </a:lnSpc>
              <a:spcBef>
                <a:spcPts val="0"/>
              </a:spcBef>
              <a:spcAft>
                <a:spcPts val="0"/>
              </a:spcAft>
              <a:buClr>
                <a:srgbClr val="000000"/>
              </a:buClr>
              <a:buSzPts val="1865"/>
              <a:buFont typeface="Raleway"/>
              <a:buAutoNum type="arabicPeriod"/>
            </a:pPr>
            <a:r>
              <a:rPr lang="en" sz="1865" b="1">
                <a:solidFill>
                  <a:srgbClr val="000000"/>
                </a:solidFill>
                <a:latin typeface="Raleway"/>
                <a:ea typeface="Raleway"/>
                <a:cs typeface="Raleway"/>
                <a:sym typeface="Raleway"/>
              </a:rPr>
              <a:t>To design a smart obstacle avoiding car that has the ability to detect an object in its path, change direction and follow a new path around that object.</a:t>
            </a:r>
            <a:endParaRPr sz="1865" b="1">
              <a:solidFill>
                <a:srgbClr val="000000"/>
              </a:solidFill>
              <a:latin typeface="Raleway"/>
              <a:ea typeface="Raleway"/>
              <a:cs typeface="Raleway"/>
              <a:sym typeface="Raleway"/>
            </a:endParaRPr>
          </a:p>
          <a:p>
            <a:pPr marL="457200" lvl="0" indent="-347027" algn="l" rtl="0">
              <a:lnSpc>
                <a:spcPct val="95000"/>
              </a:lnSpc>
              <a:spcBef>
                <a:spcPts val="0"/>
              </a:spcBef>
              <a:spcAft>
                <a:spcPts val="0"/>
              </a:spcAft>
              <a:buClr>
                <a:srgbClr val="000000"/>
              </a:buClr>
              <a:buSzPts val="1865"/>
              <a:buFont typeface="Raleway"/>
              <a:buAutoNum type="arabicPeriod"/>
            </a:pPr>
            <a:r>
              <a:rPr lang="en" sz="1865" b="1">
                <a:solidFill>
                  <a:srgbClr val="000000"/>
                </a:solidFill>
                <a:latin typeface="Raleway"/>
                <a:ea typeface="Raleway"/>
                <a:cs typeface="Raleway"/>
                <a:sym typeface="Raleway"/>
              </a:rPr>
              <a:t>To keep the project as simple and cost effective as possible.</a:t>
            </a:r>
            <a:endParaRPr sz="1865" b="1">
              <a:solidFill>
                <a:srgbClr val="000000"/>
              </a:solidFill>
              <a:latin typeface="Raleway"/>
              <a:ea typeface="Raleway"/>
              <a:cs typeface="Raleway"/>
              <a:sym typeface="Raleway"/>
            </a:endParaRPr>
          </a:p>
          <a:p>
            <a:pPr marL="457200" lvl="0" indent="-347027" algn="l" rtl="0">
              <a:lnSpc>
                <a:spcPct val="95000"/>
              </a:lnSpc>
              <a:spcBef>
                <a:spcPts val="0"/>
              </a:spcBef>
              <a:spcAft>
                <a:spcPts val="0"/>
              </a:spcAft>
              <a:buClr>
                <a:srgbClr val="000000"/>
              </a:buClr>
              <a:buSzPts val="1865"/>
              <a:buFont typeface="Raleway"/>
              <a:buAutoNum type="arabicPeriod"/>
            </a:pPr>
            <a:r>
              <a:rPr lang="en" sz="1865" b="1">
                <a:solidFill>
                  <a:srgbClr val="000000"/>
                </a:solidFill>
                <a:latin typeface="Raleway"/>
                <a:ea typeface="Raleway"/>
                <a:cs typeface="Raleway"/>
                <a:sym typeface="Raleway"/>
              </a:rPr>
              <a:t>To cover any lagging factors from the previous implementations of this project done by other people.</a:t>
            </a:r>
            <a:endParaRPr sz="1865" b="1">
              <a:solidFill>
                <a:srgbClr val="000000"/>
              </a:solidFill>
              <a:latin typeface="Raleway"/>
              <a:ea typeface="Raleway"/>
              <a:cs typeface="Raleway"/>
              <a:sym typeface="Raleway"/>
            </a:endParaRPr>
          </a:p>
          <a:p>
            <a:pPr marL="457200" lvl="0" indent="-347027" algn="l" rtl="0">
              <a:lnSpc>
                <a:spcPct val="95000"/>
              </a:lnSpc>
              <a:spcBef>
                <a:spcPts val="0"/>
              </a:spcBef>
              <a:spcAft>
                <a:spcPts val="0"/>
              </a:spcAft>
              <a:buClr>
                <a:srgbClr val="000000"/>
              </a:buClr>
              <a:buSzPts val="1865"/>
              <a:buFont typeface="Raleway"/>
              <a:buAutoNum type="arabicPeriod"/>
            </a:pPr>
            <a:r>
              <a:rPr lang="en" sz="1865" b="1">
                <a:solidFill>
                  <a:srgbClr val="000000"/>
                </a:solidFill>
                <a:latin typeface="Raleway"/>
                <a:ea typeface="Raleway"/>
                <a:cs typeface="Raleway"/>
                <a:sym typeface="Raleway"/>
              </a:rPr>
              <a:t>To keep it fully automated, so there is no requirement of an external control.</a:t>
            </a:r>
            <a:endParaRPr sz="1402" b="1">
              <a:solidFill>
                <a:srgbClr val="000000"/>
              </a:solidFill>
              <a:latin typeface="Raleway"/>
              <a:ea typeface="Raleway"/>
              <a:cs typeface="Raleway"/>
              <a:sym typeface="Ralewa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METHODOLOGY </a:t>
            </a:r>
            <a:endParaRPr/>
          </a:p>
          <a:p>
            <a:pPr marL="0" lvl="0" indent="0" algn="l" rtl="0">
              <a:spcBef>
                <a:spcPts val="0"/>
              </a:spcBef>
              <a:spcAft>
                <a:spcPts val="0"/>
              </a:spcAft>
              <a:buNone/>
            </a:pPr>
            <a:r>
              <a:rPr lang="en"/>
              <a:t>FLOW CHART</a:t>
            </a:r>
            <a:endParaRPr/>
          </a:p>
        </p:txBody>
      </p:sp>
      <p:sp>
        <p:nvSpPr>
          <p:cNvPr id="104" name="Google Shape;104;p1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   </a:t>
            </a:r>
            <a:endParaRPr/>
          </a:p>
        </p:txBody>
      </p:sp>
      <p:pic>
        <p:nvPicPr>
          <p:cNvPr id="105" name="Google Shape;105;p16"/>
          <p:cNvPicPr preferRelativeResize="0"/>
          <p:nvPr/>
        </p:nvPicPr>
        <p:blipFill>
          <a:blip r:embed="rId3">
            <a:alphaModFix/>
          </a:blip>
          <a:stretch>
            <a:fillRect/>
          </a:stretch>
        </p:blipFill>
        <p:spPr>
          <a:xfrm>
            <a:off x="3527975" y="892388"/>
            <a:ext cx="3090000" cy="4217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BLOCK DIAGRAM</a:t>
            </a:r>
            <a:endParaRPr/>
          </a:p>
        </p:txBody>
      </p:sp>
      <p:sp>
        <p:nvSpPr>
          <p:cNvPr id="111" name="Google Shape;111;p1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  </a:t>
            </a:r>
            <a:endParaRPr/>
          </a:p>
        </p:txBody>
      </p:sp>
      <p:pic>
        <p:nvPicPr>
          <p:cNvPr id="112" name="Google Shape;112;p17"/>
          <p:cNvPicPr preferRelativeResize="0"/>
          <p:nvPr/>
        </p:nvPicPr>
        <p:blipFill rotWithShape="1">
          <a:blip r:embed="rId3">
            <a:alphaModFix/>
          </a:blip>
          <a:srcRect t="12311"/>
          <a:stretch/>
        </p:blipFill>
        <p:spPr>
          <a:xfrm>
            <a:off x="729450" y="1799126"/>
            <a:ext cx="7094626" cy="3005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COMPONENTS  </a:t>
            </a:r>
            <a:endParaRPr/>
          </a:p>
        </p:txBody>
      </p:sp>
      <p:sp>
        <p:nvSpPr>
          <p:cNvPr id="118" name="Google Shape;118;p1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b="1">
              <a:solidFill>
                <a:schemeClr val="dk2"/>
              </a:solidFill>
            </a:endParaRPr>
          </a:p>
          <a:p>
            <a:pPr marL="0" lvl="0" indent="0" algn="l" rtl="0">
              <a:spcBef>
                <a:spcPts val="1200"/>
              </a:spcBef>
              <a:spcAft>
                <a:spcPts val="0"/>
              </a:spcAft>
              <a:buNone/>
            </a:pPr>
            <a:endParaRPr b="1">
              <a:solidFill>
                <a:schemeClr val="dk2"/>
              </a:solidFill>
            </a:endParaRPr>
          </a:p>
          <a:p>
            <a:pPr marL="0" lvl="0" indent="0" algn="l" rtl="0">
              <a:spcBef>
                <a:spcPts val="1200"/>
              </a:spcBef>
              <a:spcAft>
                <a:spcPts val="1200"/>
              </a:spcAft>
              <a:buNone/>
            </a:pPr>
            <a:r>
              <a:rPr lang="en" b="1">
                <a:solidFill>
                  <a:schemeClr val="dk2"/>
                </a:solidFill>
              </a:rPr>
              <a:t>L298 Motor Driver                                               Arduino Uno                                    Ultrasonic sensor                    jumper wires   </a:t>
            </a:r>
            <a:r>
              <a:rPr lang="en" b="1"/>
              <a:t> </a:t>
            </a:r>
            <a:endParaRPr b="1"/>
          </a:p>
        </p:txBody>
      </p:sp>
      <p:pic>
        <p:nvPicPr>
          <p:cNvPr id="119" name="Google Shape;119;p18"/>
          <p:cNvPicPr preferRelativeResize="0"/>
          <p:nvPr/>
        </p:nvPicPr>
        <p:blipFill>
          <a:blip r:embed="rId3">
            <a:alphaModFix/>
          </a:blip>
          <a:stretch>
            <a:fillRect/>
          </a:stretch>
        </p:blipFill>
        <p:spPr>
          <a:xfrm>
            <a:off x="729450" y="2034200"/>
            <a:ext cx="2128701" cy="1419125"/>
          </a:xfrm>
          <a:prstGeom prst="rect">
            <a:avLst/>
          </a:prstGeom>
          <a:noFill/>
          <a:ln>
            <a:noFill/>
          </a:ln>
        </p:spPr>
      </p:pic>
      <p:pic>
        <p:nvPicPr>
          <p:cNvPr id="120" name="Google Shape;120;p18"/>
          <p:cNvPicPr preferRelativeResize="0"/>
          <p:nvPr/>
        </p:nvPicPr>
        <p:blipFill>
          <a:blip r:embed="rId4">
            <a:alphaModFix/>
          </a:blip>
          <a:stretch>
            <a:fillRect/>
          </a:stretch>
        </p:blipFill>
        <p:spPr>
          <a:xfrm>
            <a:off x="3077050" y="1657888"/>
            <a:ext cx="1827724" cy="1827724"/>
          </a:xfrm>
          <a:prstGeom prst="rect">
            <a:avLst/>
          </a:prstGeom>
          <a:noFill/>
          <a:ln>
            <a:noFill/>
          </a:ln>
        </p:spPr>
      </p:pic>
      <p:pic>
        <p:nvPicPr>
          <p:cNvPr id="121" name="Google Shape;121;p18"/>
          <p:cNvPicPr preferRelativeResize="0"/>
          <p:nvPr/>
        </p:nvPicPr>
        <p:blipFill>
          <a:blip r:embed="rId5">
            <a:alphaModFix/>
          </a:blip>
          <a:stretch>
            <a:fillRect/>
          </a:stretch>
        </p:blipFill>
        <p:spPr>
          <a:xfrm>
            <a:off x="5411400" y="1862186"/>
            <a:ext cx="1419124" cy="1419125"/>
          </a:xfrm>
          <a:prstGeom prst="rect">
            <a:avLst/>
          </a:prstGeom>
          <a:noFill/>
          <a:ln>
            <a:noFill/>
          </a:ln>
        </p:spPr>
      </p:pic>
      <p:pic>
        <p:nvPicPr>
          <p:cNvPr id="122" name="Google Shape;122;p18"/>
          <p:cNvPicPr preferRelativeResize="0"/>
          <p:nvPr/>
        </p:nvPicPr>
        <p:blipFill>
          <a:blip r:embed="rId6">
            <a:alphaModFix/>
          </a:blip>
          <a:stretch>
            <a:fillRect/>
          </a:stretch>
        </p:blipFill>
        <p:spPr>
          <a:xfrm>
            <a:off x="7194050" y="1685690"/>
            <a:ext cx="1772124" cy="17721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HARDWARE SETUP</a:t>
            </a:r>
            <a:endParaRPr/>
          </a:p>
        </p:txBody>
      </p:sp>
      <p:sp>
        <p:nvSpPr>
          <p:cNvPr id="128" name="Google Shape;128;p1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       </a:t>
            </a:r>
            <a:endParaRPr/>
          </a:p>
        </p:txBody>
      </p:sp>
      <p:pic>
        <p:nvPicPr>
          <p:cNvPr id="129" name="Google Shape;129;p19"/>
          <p:cNvPicPr preferRelativeResize="0"/>
          <p:nvPr/>
        </p:nvPicPr>
        <p:blipFill>
          <a:blip r:embed="rId3">
            <a:alphaModFix/>
          </a:blip>
          <a:stretch>
            <a:fillRect/>
          </a:stretch>
        </p:blipFill>
        <p:spPr>
          <a:xfrm>
            <a:off x="809275" y="2058800"/>
            <a:ext cx="2341586" cy="2629149"/>
          </a:xfrm>
          <a:prstGeom prst="rect">
            <a:avLst/>
          </a:prstGeom>
          <a:noFill/>
          <a:ln>
            <a:noFill/>
          </a:ln>
        </p:spPr>
      </p:pic>
      <p:pic>
        <p:nvPicPr>
          <p:cNvPr id="130" name="Google Shape;130;p19"/>
          <p:cNvPicPr preferRelativeResize="0"/>
          <p:nvPr/>
        </p:nvPicPr>
        <p:blipFill>
          <a:blip r:embed="rId4">
            <a:alphaModFix/>
          </a:blip>
          <a:stretch>
            <a:fillRect/>
          </a:stretch>
        </p:blipFill>
        <p:spPr>
          <a:xfrm>
            <a:off x="3518575" y="2058800"/>
            <a:ext cx="1962475" cy="2629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CODE</a:t>
            </a:r>
            <a:endParaRPr/>
          </a:p>
        </p:txBody>
      </p:sp>
      <p:sp>
        <p:nvSpPr>
          <p:cNvPr id="136" name="Google Shape;136;p2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  </a:t>
            </a:r>
            <a:endParaRPr/>
          </a:p>
        </p:txBody>
      </p:sp>
      <p:pic>
        <p:nvPicPr>
          <p:cNvPr id="137" name="Google Shape;137;p20"/>
          <p:cNvPicPr preferRelativeResize="0"/>
          <p:nvPr/>
        </p:nvPicPr>
        <p:blipFill rotWithShape="1">
          <a:blip r:embed="rId3">
            <a:alphaModFix/>
          </a:blip>
          <a:srcRect b="58354"/>
          <a:stretch/>
        </p:blipFill>
        <p:spPr>
          <a:xfrm>
            <a:off x="729450" y="1853850"/>
            <a:ext cx="5523769" cy="24861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  </a:t>
            </a:r>
            <a:endParaRPr/>
          </a:p>
        </p:txBody>
      </p:sp>
      <p:sp>
        <p:nvSpPr>
          <p:cNvPr id="143" name="Google Shape;143;p2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  </a:t>
            </a:r>
            <a:endParaRPr/>
          </a:p>
        </p:txBody>
      </p:sp>
      <p:pic>
        <p:nvPicPr>
          <p:cNvPr id="144" name="Google Shape;144;p21"/>
          <p:cNvPicPr preferRelativeResize="0"/>
          <p:nvPr/>
        </p:nvPicPr>
        <p:blipFill rotWithShape="1">
          <a:blip r:embed="rId3">
            <a:alphaModFix/>
          </a:blip>
          <a:srcRect t="41644" b="652"/>
          <a:stretch/>
        </p:blipFill>
        <p:spPr>
          <a:xfrm>
            <a:off x="729450" y="1318650"/>
            <a:ext cx="5896774" cy="36772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 </a:t>
            </a:r>
            <a:endParaRPr/>
          </a:p>
        </p:txBody>
      </p:sp>
      <p:sp>
        <p:nvSpPr>
          <p:cNvPr id="150" name="Google Shape;150;p2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  </a:t>
            </a:r>
            <a:endParaRPr/>
          </a:p>
        </p:txBody>
      </p:sp>
      <p:pic>
        <p:nvPicPr>
          <p:cNvPr id="151" name="Google Shape;151;p22"/>
          <p:cNvPicPr preferRelativeResize="0"/>
          <p:nvPr/>
        </p:nvPicPr>
        <p:blipFill rotWithShape="1">
          <a:blip r:embed="rId3">
            <a:alphaModFix/>
          </a:blip>
          <a:srcRect t="3578" b="42521"/>
          <a:stretch/>
        </p:blipFill>
        <p:spPr>
          <a:xfrm>
            <a:off x="729450" y="1318650"/>
            <a:ext cx="5565726" cy="3743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 </a:t>
            </a:r>
            <a:endParaRPr/>
          </a:p>
        </p:txBody>
      </p:sp>
      <p:sp>
        <p:nvSpPr>
          <p:cNvPr id="157" name="Google Shape;157;p2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  </a:t>
            </a:r>
            <a:endParaRPr/>
          </a:p>
        </p:txBody>
      </p:sp>
      <p:pic>
        <p:nvPicPr>
          <p:cNvPr id="158" name="Google Shape;158;p23"/>
          <p:cNvPicPr preferRelativeResize="0"/>
          <p:nvPr/>
        </p:nvPicPr>
        <p:blipFill rotWithShape="1">
          <a:blip r:embed="rId3">
            <a:alphaModFix/>
          </a:blip>
          <a:srcRect t="61363" b="7344"/>
          <a:stretch/>
        </p:blipFill>
        <p:spPr>
          <a:xfrm>
            <a:off x="729450" y="1318650"/>
            <a:ext cx="6697700" cy="26153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  </a:t>
            </a:r>
            <a:endParaRPr/>
          </a:p>
        </p:txBody>
      </p:sp>
      <p:sp>
        <p:nvSpPr>
          <p:cNvPr id="164" name="Google Shape;164;p2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  </a:t>
            </a:r>
            <a:endParaRPr/>
          </a:p>
        </p:txBody>
      </p:sp>
      <p:pic>
        <p:nvPicPr>
          <p:cNvPr id="165" name="Google Shape;165;p24"/>
          <p:cNvPicPr preferRelativeResize="0"/>
          <p:nvPr/>
        </p:nvPicPr>
        <p:blipFill rotWithShape="1">
          <a:blip r:embed="rId3">
            <a:alphaModFix/>
          </a:blip>
          <a:srcRect t="9722" b="57859"/>
          <a:stretch/>
        </p:blipFill>
        <p:spPr>
          <a:xfrm>
            <a:off x="729450" y="1318650"/>
            <a:ext cx="6610275" cy="24079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  </a:t>
            </a:r>
            <a:endParaRPr/>
          </a:p>
        </p:txBody>
      </p:sp>
      <p:sp>
        <p:nvSpPr>
          <p:cNvPr id="171" name="Google Shape;171;p2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  </a:t>
            </a:r>
            <a:endParaRPr/>
          </a:p>
        </p:txBody>
      </p:sp>
      <p:pic>
        <p:nvPicPr>
          <p:cNvPr id="172" name="Google Shape;172;p25"/>
          <p:cNvPicPr preferRelativeResize="0"/>
          <p:nvPr/>
        </p:nvPicPr>
        <p:blipFill rotWithShape="1">
          <a:blip r:embed="rId3">
            <a:alphaModFix/>
          </a:blip>
          <a:srcRect t="42132" b="13189"/>
          <a:stretch/>
        </p:blipFill>
        <p:spPr>
          <a:xfrm>
            <a:off x="729450" y="1318650"/>
            <a:ext cx="6267476" cy="3146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CONCLUSION</a:t>
            </a:r>
            <a:endParaRPr/>
          </a:p>
        </p:txBody>
      </p:sp>
      <p:sp>
        <p:nvSpPr>
          <p:cNvPr id="178" name="Google Shape;178;p2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800" b="1">
                <a:solidFill>
                  <a:srgbClr val="000000"/>
                </a:solidFill>
                <a:latin typeface="Raleway"/>
                <a:ea typeface="Raleway"/>
                <a:cs typeface="Raleway"/>
                <a:sym typeface="Raleway"/>
              </a:rPr>
              <a:t>Hence a working prototype of an obstacle avoiding car was obtained which was tested on the lab ground and debugged for errors.</a:t>
            </a:r>
            <a:endParaRPr b="1">
              <a:solidFill>
                <a:srgbClr val="000000"/>
              </a:solidFill>
              <a:latin typeface="Raleway"/>
              <a:ea typeface="Raleway"/>
              <a:cs typeface="Raleway"/>
              <a:sym typeface="Raleway"/>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REFERENCES</a:t>
            </a:r>
            <a:endParaRPr/>
          </a:p>
        </p:txBody>
      </p:sp>
      <p:sp>
        <p:nvSpPr>
          <p:cNvPr id="184" name="Google Shape;184;p2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600" b="1">
                <a:solidFill>
                  <a:srgbClr val="000000"/>
                </a:solidFill>
                <a:latin typeface="Raleway"/>
                <a:ea typeface="Raleway"/>
                <a:cs typeface="Raleway"/>
                <a:sym typeface="Raleway"/>
              </a:rPr>
              <a:t>[1] Y. Jin, S. Li, J. Li, H. Sun and Y. Wu, "Design of an Intelligent Active Obstacle Avoidance Car Based on Rotating Ultrasonic Sensors," 2018 IEEE 8th Annual International Conference on CYBER Technology in Automation, Control, and Intelligent Systems (CYBER), Tianjin, China, 2018, pp. 753-757, doi: 10.1109/CYBER.2018.8688326.</a:t>
            </a:r>
            <a:endParaRPr sz="1100" b="1">
              <a:solidFill>
                <a:srgbClr val="000000"/>
              </a:solidFill>
              <a:latin typeface="Raleway"/>
              <a:ea typeface="Raleway"/>
              <a:cs typeface="Raleway"/>
              <a:sym typeface="Raleway"/>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345</Words>
  <Application>Microsoft Office PowerPoint</Application>
  <PresentationFormat>On-screen Show (16:9)</PresentationFormat>
  <Paragraphs>40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Raleway</vt:lpstr>
      <vt:lpstr>Lato</vt:lpstr>
      <vt:lpstr>Arial</vt:lpstr>
      <vt:lpstr>Streamline</vt:lpstr>
      <vt:lpstr>MICROCONTROLLER BASED OBSTACLE AVOIDING ROBOT Group Members: Fatima Nazir, Ayesha Khan Submitted to: Dr. Raheel Qureshi  </vt:lpstr>
      <vt:lpstr>INTRODUCTION</vt:lpstr>
      <vt:lpstr>AIMS AND OBJECTIVES</vt:lpstr>
      <vt:lpstr>METHODOLOGY  FLOW CHART</vt:lpstr>
      <vt:lpstr>BLOCK DIAGRAM</vt:lpstr>
      <vt:lpstr>COMPONENTS  </vt:lpstr>
      <vt:lpstr>HARDWARE SETUP</vt:lpstr>
      <vt:lpstr>CODE</vt:lpstr>
      <vt:lpstr>  </vt:lpstr>
      <vt:lpstr> </vt:lpstr>
      <vt:lpstr> </vt:lpstr>
      <vt:lpstr>  </vt:lpstr>
      <vt:lpstr>  </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MICROCONTROLLER BASED OBSTACLE AVOIDING ROBOT Group Members: Fatima Nazir, Ayesha Khan Submitted to: Dr. Raheel Qureshi</dc:title>
  <dc:creator>lenovo</dc:creator>
  <cp:lastModifiedBy>lenovo</cp:lastModifiedBy>
  <cp:revision>2</cp:revision>
  <dcterms:modified xsi:type="dcterms:W3CDTF">2023-12-24T12:06:00Z</dcterms:modified>
</cp:coreProperties>
</file>