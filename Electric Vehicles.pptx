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Bebas Neue Bold" charset="1" panose="020B0606020202050201"/>
      <p:regular r:id="rId18"/>
    </p:embeddedFont>
    <p:embeddedFont>
      <p:font typeface="Work Sans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jpeg" Type="http://schemas.openxmlformats.org/officeDocument/2006/relationships/image"/><Relationship Id="rId6" Target="../media/image1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3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4.jpe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34323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545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618138" y="8509152"/>
            <a:ext cx="1222676" cy="648018"/>
          </a:xfrm>
          <a:custGeom>
            <a:avLst/>
            <a:gdLst/>
            <a:ahLst/>
            <a:cxnLst/>
            <a:rect r="r" b="b" t="t" l="l"/>
            <a:pathLst>
              <a:path h="648018" w="1222676">
                <a:moveTo>
                  <a:pt x="0" y="0"/>
                </a:moveTo>
                <a:lnTo>
                  <a:pt x="1222676" y="0"/>
                </a:lnTo>
                <a:lnTo>
                  <a:pt x="1222676" y="648018"/>
                </a:lnTo>
                <a:lnTo>
                  <a:pt x="0" y="6480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259300" y="6218464"/>
            <a:ext cx="1670957" cy="167095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FF0A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28700" y="650228"/>
            <a:ext cx="1359221" cy="1359221"/>
          </a:xfrm>
          <a:custGeom>
            <a:avLst/>
            <a:gdLst/>
            <a:ahLst/>
            <a:cxnLst/>
            <a:rect r="r" b="b" t="t" l="l"/>
            <a:pathLst>
              <a:path h="1359221" w="1359221">
                <a:moveTo>
                  <a:pt x="0" y="0"/>
                </a:moveTo>
                <a:lnTo>
                  <a:pt x="1359221" y="0"/>
                </a:lnTo>
                <a:lnTo>
                  <a:pt x="1359221" y="1359221"/>
                </a:lnTo>
                <a:lnTo>
                  <a:pt x="0" y="13592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3030181"/>
            <a:ext cx="9233712" cy="5043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60"/>
              </a:lnSpc>
            </a:pPr>
            <a:r>
              <a:rPr lang="en-US" sz="23200" spc="-580" b="true">
                <a:solidFill>
                  <a:srgbClr val="5FF0A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Rapid Velocity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433111"/>
            <a:ext cx="5763869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>
                <a:solidFill>
                  <a:srgbClr val="EFF5F2"/>
                </a:solidFill>
                <a:latin typeface="Work Sans"/>
                <a:ea typeface="Work Sans"/>
                <a:cs typeface="Work Sans"/>
                <a:sym typeface="Work Sans"/>
              </a:rPr>
              <a:t>DRIVING THE FUTU</a:t>
            </a:r>
            <a:r>
              <a:rPr lang="en-US" sz="3000">
                <a:solidFill>
                  <a:srgbClr val="EFF5F2"/>
                </a:solidFill>
                <a:latin typeface="Work Sans"/>
                <a:ea typeface="Work Sans"/>
                <a:cs typeface="Work Sans"/>
                <a:sym typeface="Work Sans"/>
              </a:rPr>
              <a:t>RE OF SUSTAINABLE MOBILITY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63050" y="1028700"/>
            <a:ext cx="6300948" cy="5414877"/>
            <a:chOff x="0" y="0"/>
            <a:chExt cx="812800" cy="698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blipFill>
              <a:blip r:embed="rId3"/>
              <a:stretch>
                <a:fillRect l="-7032" t="0" r="-7032" b="0"/>
              </a:stretch>
            </a:blipFill>
            <a:ln w="38100" cap="sq">
              <a:solidFill>
                <a:srgbClr val="5FF0A7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3990466" y="3843423"/>
            <a:ext cx="6300948" cy="5414877"/>
            <a:chOff x="0" y="0"/>
            <a:chExt cx="812800" cy="698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blipFill>
              <a:blip r:embed="rId4"/>
              <a:stretch>
                <a:fillRect l="0" t="-27884" r="0" b="-27884"/>
              </a:stretch>
            </a:blipFill>
            <a:ln w="38100" cap="sq">
              <a:solidFill>
                <a:srgbClr val="5FF0A7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7259300" y="-642257"/>
            <a:ext cx="1670957" cy="167095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FF0A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220796" y="8120201"/>
            <a:ext cx="2147357" cy="1138099"/>
          </a:xfrm>
          <a:custGeom>
            <a:avLst/>
            <a:gdLst/>
            <a:ahLst/>
            <a:cxnLst/>
            <a:rect r="r" b="b" t="t" l="l"/>
            <a:pathLst>
              <a:path h="1138099" w="2147357">
                <a:moveTo>
                  <a:pt x="0" y="0"/>
                </a:moveTo>
                <a:lnTo>
                  <a:pt x="2147356" y="0"/>
                </a:lnTo>
                <a:lnTo>
                  <a:pt x="2147356" y="1138099"/>
                </a:lnTo>
                <a:lnTo>
                  <a:pt x="0" y="11380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1581150"/>
            <a:ext cx="8115300" cy="329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sz="15000" spc="-375" b="true">
                <a:solidFill>
                  <a:srgbClr val="5FF0A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Company</a:t>
            </a:r>
          </a:p>
          <a:p>
            <a:pPr algn="l">
              <a:lnSpc>
                <a:spcPts val="12000"/>
              </a:lnSpc>
            </a:pPr>
            <a:r>
              <a:rPr lang="en-US" sz="15000" spc="-375" b="true">
                <a:solidFill>
                  <a:srgbClr val="5FF0A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Ov</a:t>
            </a:r>
            <a:r>
              <a:rPr lang="en-US" b="true" sz="15000" spc="-375">
                <a:solidFill>
                  <a:srgbClr val="5FF0A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erview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172075"/>
            <a:ext cx="7287869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800">
                <a:solidFill>
                  <a:srgbClr val="EFF5F2"/>
                </a:solidFill>
                <a:latin typeface="Work Sans"/>
                <a:ea typeface="Work Sans"/>
                <a:cs typeface="Work Sans"/>
                <a:sym typeface="Work Sans"/>
              </a:rPr>
              <a:t>Rapid Velocity is a Pakistan-based EV startup focus</a:t>
            </a:r>
            <a:r>
              <a:rPr lang="en-US" sz="2800">
                <a:solidFill>
                  <a:srgbClr val="EFF5F2"/>
                </a:solidFill>
                <a:latin typeface="Work Sans"/>
                <a:ea typeface="Work Sans"/>
                <a:cs typeface="Work Sans"/>
                <a:sym typeface="Work Sans"/>
              </a:rPr>
              <a:t>ed on making electric mobility accessible, practical, and locally developed.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6854190"/>
            <a:ext cx="7287869" cy="1882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800">
                <a:solidFill>
                  <a:srgbClr val="EFF5F2"/>
                </a:solidFill>
                <a:latin typeface="Work Sans"/>
                <a:ea typeface="Work Sans"/>
                <a:cs typeface="Work Sans"/>
                <a:sym typeface="Work Sans"/>
              </a:rPr>
              <a:t>We specialize in:</a:t>
            </a:r>
          </a:p>
          <a:p>
            <a:pPr algn="l" marL="604523" indent="-302261" lvl="1">
              <a:lnSpc>
                <a:spcPts val="2940"/>
              </a:lnSpc>
              <a:buFont typeface="Arial"/>
              <a:buChar char="•"/>
            </a:pPr>
            <a:r>
              <a:rPr lang="en-US" sz="2800">
                <a:solidFill>
                  <a:srgbClr val="EFF5F2"/>
                </a:solidFill>
                <a:latin typeface="Work Sans"/>
                <a:ea typeface="Work Sans"/>
                <a:cs typeface="Work Sans"/>
                <a:sym typeface="Work Sans"/>
              </a:rPr>
              <a:t>ICE-to-EV Conversion </a:t>
            </a:r>
          </a:p>
          <a:p>
            <a:pPr algn="l" marL="604523" indent="-302261" lvl="1">
              <a:lnSpc>
                <a:spcPts val="2940"/>
              </a:lnSpc>
              <a:buFont typeface="Arial"/>
              <a:buChar char="•"/>
            </a:pPr>
            <a:r>
              <a:rPr lang="en-US" sz="2800">
                <a:solidFill>
                  <a:srgbClr val="EFF5F2"/>
                </a:solidFill>
                <a:latin typeface="Work Sans"/>
                <a:ea typeface="Work Sans"/>
                <a:cs typeface="Work Sans"/>
                <a:sym typeface="Work Sans"/>
              </a:rPr>
              <a:t>Custom Battery Packs</a:t>
            </a:r>
          </a:p>
          <a:p>
            <a:pPr algn="l" marL="604523" indent="-302261" lvl="1">
              <a:lnSpc>
                <a:spcPts val="2940"/>
              </a:lnSpc>
              <a:buFont typeface="Arial"/>
              <a:buChar char="•"/>
            </a:pPr>
            <a:r>
              <a:rPr lang="en-US" sz="2800">
                <a:solidFill>
                  <a:srgbClr val="EFF5F2"/>
                </a:solidFill>
                <a:latin typeface="Work Sans"/>
                <a:ea typeface="Work Sans"/>
                <a:cs typeface="Work Sans"/>
                <a:sym typeface="Work Sans"/>
              </a:rPr>
              <a:t>Commercial EV Solutions </a:t>
            </a:r>
          </a:p>
          <a:p>
            <a:pPr algn="l" marL="604523" indent="-302261" lvl="1">
              <a:lnSpc>
                <a:spcPts val="2940"/>
              </a:lnSpc>
              <a:buFont typeface="Arial"/>
              <a:buChar char="•"/>
            </a:pPr>
            <a:r>
              <a:rPr lang="en-US" sz="2800">
                <a:solidFill>
                  <a:srgbClr val="EFF5F2"/>
                </a:solidFill>
                <a:latin typeface="Work Sans"/>
                <a:ea typeface="Work Sans"/>
                <a:cs typeface="Work Sans"/>
                <a:sym typeface="Work Sans"/>
              </a:rPr>
              <a:t>EV Training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585" r="0" b="-1658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241493"/>
            <a:ext cx="16230600" cy="1226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79"/>
              </a:lnSpc>
            </a:pPr>
            <a:r>
              <a:rPr lang="en-US" sz="10599" spc="-264" b="true">
                <a:solidFill>
                  <a:srgbClr val="5FF0A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 Problem- And a Growing Opp</a:t>
            </a:r>
            <a:r>
              <a:rPr lang="en-US" b="true" sz="10599" spc="-264">
                <a:solidFill>
                  <a:srgbClr val="5FF0A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ortunity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752975"/>
            <a:ext cx="16230600" cy="303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4500">
                <a:solidFill>
                  <a:srgbClr val="EFF5F2"/>
                </a:solidFill>
                <a:latin typeface="Work Sans"/>
                <a:ea typeface="Work Sans"/>
                <a:cs typeface="Work Sans"/>
                <a:sym typeface="Work Sans"/>
              </a:rPr>
              <a:t>•Rising transportation and fuel costs</a:t>
            </a:r>
          </a:p>
          <a:p>
            <a:pPr algn="l">
              <a:lnSpc>
                <a:spcPts val="4725"/>
              </a:lnSpc>
            </a:pPr>
            <a:r>
              <a:rPr lang="en-US" sz="4500">
                <a:solidFill>
                  <a:srgbClr val="EFF5F2"/>
                </a:solidFill>
                <a:latin typeface="Work Sans"/>
                <a:ea typeface="Work Sans"/>
                <a:cs typeface="Work Sans"/>
                <a:sym typeface="Work Sans"/>
              </a:rPr>
              <a:t>•Dependance on imported fuel</a:t>
            </a:r>
          </a:p>
          <a:p>
            <a:pPr algn="l">
              <a:lnSpc>
                <a:spcPts val="4725"/>
              </a:lnSpc>
            </a:pPr>
            <a:r>
              <a:rPr lang="en-US" sz="4500">
                <a:solidFill>
                  <a:srgbClr val="EFF5F2"/>
                </a:solidFill>
                <a:latin typeface="Work Sans"/>
                <a:ea typeface="Work Sans"/>
                <a:cs typeface="Work Sans"/>
                <a:sym typeface="Work Sans"/>
              </a:rPr>
              <a:t>•High upfront cost of n</a:t>
            </a:r>
            <a:r>
              <a:rPr lang="en-US" sz="4500">
                <a:solidFill>
                  <a:srgbClr val="EFF5F2"/>
                </a:solidFill>
                <a:latin typeface="Work Sans"/>
                <a:ea typeface="Work Sans"/>
                <a:cs typeface="Work Sans"/>
                <a:sym typeface="Work Sans"/>
              </a:rPr>
              <a:t>ew Evs</a:t>
            </a:r>
          </a:p>
          <a:p>
            <a:pPr algn="l">
              <a:lnSpc>
                <a:spcPts val="4725"/>
              </a:lnSpc>
            </a:pPr>
            <a:r>
              <a:rPr lang="en-US" sz="4500">
                <a:solidFill>
                  <a:srgbClr val="EFF5F2"/>
                </a:solidFill>
                <a:latin typeface="Work Sans"/>
                <a:ea typeface="Work Sans"/>
                <a:cs typeface="Work Sans"/>
                <a:sym typeface="Work Sans"/>
              </a:rPr>
              <a:t>•Need for local EV expertise and technology </a:t>
            </a:r>
          </a:p>
          <a:p>
            <a:pPr algn="l">
              <a:lnSpc>
                <a:spcPts val="4725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-642257" y="262890"/>
            <a:ext cx="1670957" cy="167095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FF0A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408820" cy="352205"/>
          </a:xfrm>
          <a:custGeom>
            <a:avLst/>
            <a:gdLst/>
            <a:ahLst/>
            <a:cxnLst/>
            <a:rect r="r" b="b" t="t" l="l"/>
            <a:pathLst>
              <a:path h="352205" w="1408820">
                <a:moveTo>
                  <a:pt x="0" y="0"/>
                </a:moveTo>
                <a:lnTo>
                  <a:pt x="1408820" y="0"/>
                </a:lnTo>
                <a:lnTo>
                  <a:pt x="1408820" y="352205"/>
                </a:lnTo>
                <a:lnTo>
                  <a:pt x="0" y="352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098500" y="353514"/>
            <a:ext cx="5307453" cy="5356506"/>
            <a:chOff x="0" y="0"/>
            <a:chExt cx="1551057" cy="156539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51057" cy="1565393"/>
            </a:xfrm>
            <a:custGeom>
              <a:avLst/>
              <a:gdLst/>
              <a:ahLst/>
              <a:cxnLst/>
              <a:rect r="r" b="b" t="t" l="l"/>
              <a:pathLst>
                <a:path h="1565393" w="1551057">
                  <a:moveTo>
                    <a:pt x="46678" y="0"/>
                  </a:moveTo>
                  <a:lnTo>
                    <a:pt x="1504379" y="0"/>
                  </a:lnTo>
                  <a:cubicBezTo>
                    <a:pt x="1530159" y="0"/>
                    <a:pt x="1551057" y="20898"/>
                    <a:pt x="1551057" y="46678"/>
                  </a:cubicBezTo>
                  <a:lnTo>
                    <a:pt x="1551057" y="1518715"/>
                  </a:lnTo>
                  <a:cubicBezTo>
                    <a:pt x="1551057" y="1544494"/>
                    <a:pt x="1530159" y="1565393"/>
                    <a:pt x="1504379" y="1565393"/>
                  </a:cubicBezTo>
                  <a:lnTo>
                    <a:pt x="46678" y="1565393"/>
                  </a:lnTo>
                  <a:cubicBezTo>
                    <a:pt x="20898" y="1565393"/>
                    <a:pt x="0" y="1544494"/>
                    <a:pt x="0" y="1518715"/>
                  </a:cubicBezTo>
                  <a:lnTo>
                    <a:pt x="0" y="46678"/>
                  </a:lnTo>
                  <a:cubicBezTo>
                    <a:pt x="0" y="20898"/>
                    <a:pt x="20898" y="0"/>
                    <a:pt x="46678" y="0"/>
                  </a:cubicBezTo>
                  <a:close/>
                </a:path>
              </a:pathLst>
            </a:custGeom>
            <a:ln w="38100" cap="rnd">
              <a:solidFill>
                <a:srgbClr val="5FF0A7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551057" cy="16225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14857" y="6010998"/>
            <a:ext cx="7511810" cy="5356506"/>
            <a:chOff x="0" y="0"/>
            <a:chExt cx="2195262" cy="15653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5262" cy="1565393"/>
            </a:xfrm>
            <a:custGeom>
              <a:avLst/>
              <a:gdLst/>
              <a:ahLst/>
              <a:cxnLst/>
              <a:rect r="r" b="b" t="t" l="l"/>
              <a:pathLst>
                <a:path h="1565393" w="2195262">
                  <a:moveTo>
                    <a:pt x="32980" y="0"/>
                  </a:moveTo>
                  <a:lnTo>
                    <a:pt x="2162282" y="0"/>
                  </a:lnTo>
                  <a:cubicBezTo>
                    <a:pt x="2171029" y="0"/>
                    <a:pt x="2179417" y="3475"/>
                    <a:pt x="2185602" y="9660"/>
                  </a:cubicBezTo>
                  <a:cubicBezTo>
                    <a:pt x="2191787" y="15845"/>
                    <a:pt x="2195262" y="24233"/>
                    <a:pt x="2195262" y="32980"/>
                  </a:cubicBezTo>
                  <a:lnTo>
                    <a:pt x="2195262" y="1532412"/>
                  </a:lnTo>
                  <a:cubicBezTo>
                    <a:pt x="2195262" y="1550627"/>
                    <a:pt x="2180496" y="1565393"/>
                    <a:pt x="2162282" y="1565393"/>
                  </a:cubicBezTo>
                  <a:lnTo>
                    <a:pt x="32980" y="1565393"/>
                  </a:lnTo>
                  <a:cubicBezTo>
                    <a:pt x="14766" y="1565393"/>
                    <a:pt x="0" y="1550627"/>
                    <a:pt x="0" y="1532412"/>
                  </a:cubicBezTo>
                  <a:lnTo>
                    <a:pt x="0" y="32980"/>
                  </a:lnTo>
                  <a:cubicBezTo>
                    <a:pt x="0" y="14766"/>
                    <a:pt x="14766" y="0"/>
                    <a:pt x="32980" y="0"/>
                  </a:cubicBezTo>
                  <a:close/>
                </a:path>
              </a:pathLst>
            </a:custGeom>
            <a:ln w="38100" cap="rnd">
              <a:solidFill>
                <a:srgbClr val="5FF0A7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195262" cy="16225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388154" y="667693"/>
            <a:ext cx="4728146" cy="472814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37660" y="0"/>
                  </a:moveTo>
                  <a:lnTo>
                    <a:pt x="775140" y="0"/>
                  </a:lnTo>
                  <a:cubicBezTo>
                    <a:pt x="795939" y="0"/>
                    <a:pt x="812800" y="16861"/>
                    <a:pt x="812800" y="37660"/>
                  </a:cubicBezTo>
                  <a:lnTo>
                    <a:pt x="812800" y="775140"/>
                  </a:lnTo>
                  <a:cubicBezTo>
                    <a:pt x="812800" y="795939"/>
                    <a:pt x="795939" y="812800"/>
                    <a:pt x="775140" y="812800"/>
                  </a:cubicBezTo>
                  <a:lnTo>
                    <a:pt x="37660" y="812800"/>
                  </a:lnTo>
                  <a:cubicBezTo>
                    <a:pt x="16861" y="812800"/>
                    <a:pt x="0" y="795939"/>
                    <a:pt x="0" y="775140"/>
                  </a:cubicBezTo>
                  <a:lnTo>
                    <a:pt x="0" y="37660"/>
                  </a:lnTo>
                  <a:cubicBezTo>
                    <a:pt x="0" y="16861"/>
                    <a:pt x="16861" y="0"/>
                    <a:pt x="37660" y="0"/>
                  </a:cubicBezTo>
                  <a:close/>
                </a:path>
              </a:pathLst>
            </a:custGeom>
            <a:blipFill>
              <a:blip r:embed="rId5"/>
              <a:stretch>
                <a:fillRect l="-16585" t="0" r="-16585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263689" y="6258501"/>
            <a:ext cx="7014146" cy="4238289"/>
            <a:chOff x="0" y="0"/>
            <a:chExt cx="1205779" cy="7285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05779" cy="728590"/>
            </a:xfrm>
            <a:custGeom>
              <a:avLst/>
              <a:gdLst/>
              <a:ahLst/>
              <a:cxnLst/>
              <a:rect r="r" b="b" t="t" l="l"/>
              <a:pathLst>
                <a:path h="728590" w="1205779">
                  <a:moveTo>
                    <a:pt x="25386" y="0"/>
                  </a:moveTo>
                  <a:lnTo>
                    <a:pt x="1180392" y="0"/>
                  </a:lnTo>
                  <a:cubicBezTo>
                    <a:pt x="1187125" y="0"/>
                    <a:pt x="1193582" y="2675"/>
                    <a:pt x="1198343" y="7436"/>
                  </a:cubicBezTo>
                  <a:cubicBezTo>
                    <a:pt x="1203104" y="12196"/>
                    <a:pt x="1205779" y="18654"/>
                    <a:pt x="1205779" y="25386"/>
                  </a:cubicBezTo>
                  <a:lnTo>
                    <a:pt x="1205779" y="703204"/>
                  </a:lnTo>
                  <a:cubicBezTo>
                    <a:pt x="1205779" y="709937"/>
                    <a:pt x="1203104" y="716394"/>
                    <a:pt x="1198343" y="721155"/>
                  </a:cubicBezTo>
                  <a:cubicBezTo>
                    <a:pt x="1193582" y="725916"/>
                    <a:pt x="1187125" y="728590"/>
                    <a:pt x="1180392" y="728590"/>
                  </a:cubicBezTo>
                  <a:lnTo>
                    <a:pt x="25386" y="728590"/>
                  </a:lnTo>
                  <a:cubicBezTo>
                    <a:pt x="18654" y="728590"/>
                    <a:pt x="12196" y="725916"/>
                    <a:pt x="7436" y="721155"/>
                  </a:cubicBezTo>
                  <a:cubicBezTo>
                    <a:pt x="2675" y="716394"/>
                    <a:pt x="0" y="709937"/>
                    <a:pt x="0" y="703204"/>
                  </a:cubicBezTo>
                  <a:lnTo>
                    <a:pt x="0" y="25386"/>
                  </a:lnTo>
                  <a:cubicBezTo>
                    <a:pt x="0" y="18654"/>
                    <a:pt x="2675" y="12196"/>
                    <a:pt x="7436" y="7436"/>
                  </a:cubicBezTo>
                  <a:cubicBezTo>
                    <a:pt x="12196" y="2675"/>
                    <a:pt x="18654" y="0"/>
                    <a:pt x="25386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6117" r="0" b="-6117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259300" y="-642257"/>
            <a:ext cx="1670957" cy="167095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FF0A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28700" y="2385604"/>
            <a:ext cx="8986157" cy="1983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9000" spc="-225" b="true">
                <a:solidFill>
                  <a:srgbClr val="5FF0A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 Problem- And a Growing Opportunity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4623343"/>
            <a:ext cx="8115300" cy="362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3150"/>
              </a:lnSpc>
              <a:buFont typeface="Arial"/>
              <a:buChar char="•"/>
            </a:pPr>
            <a:r>
              <a:rPr lang="en-US" sz="3000">
                <a:solidFill>
                  <a:srgbClr val="EFF5F2"/>
                </a:solidFill>
                <a:latin typeface="Work Sans"/>
                <a:ea typeface="Work Sans"/>
                <a:cs typeface="Work Sans"/>
                <a:sym typeface="Work Sans"/>
              </a:rPr>
              <a:t>Transport contributes about 10–11% of Pakistan's total greenhouse gas (GHG) emissions </a:t>
            </a:r>
          </a:p>
          <a:p>
            <a:pPr algn="just" marL="647700" indent="-323850" lvl="1">
              <a:lnSpc>
                <a:spcPts val="3150"/>
              </a:lnSpc>
              <a:buFont typeface="Arial"/>
              <a:buChar char="•"/>
            </a:pPr>
            <a:r>
              <a:rPr lang="en-US" sz="3000">
                <a:solidFill>
                  <a:srgbClr val="EFF5F2"/>
                </a:solidFill>
                <a:latin typeface="Work Sans"/>
                <a:ea typeface="Work Sans"/>
                <a:cs typeface="Work Sans"/>
                <a:sym typeface="Work Sans"/>
              </a:rPr>
              <a:t>If looking only at CO₂ emissions, transport's share is much higher—around 28–30% of Pakistan's carbon dioxide emissions according to several studies</a:t>
            </a:r>
          </a:p>
          <a:p>
            <a:pPr algn="just">
              <a:lnSpc>
                <a:spcPts val="315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408820" cy="352205"/>
          </a:xfrm>
          <a:custGeom>
            <a:avLst/>
            <a:gdLst/>
            <a:ahLst/>
            <a:cxnLst/>
            <a:rect r="r" b="b" t="t" l="l"/>
            <a:pathLst>
              <a:path h="352205" w="1408820">
                <a:moveTo>
                  <a:pt x="0" y="0"/>
                </a:moveTo>
                <a:lnTo>
                  <a:pt x="1408820" y="0"/>
                </a:lnTo>
                <a:lnTo>
                  <a:pt x="1408820" y="352205"/>
                </a:lnTo>
                <a:lnTo>
                  <a:pt x="0" y="352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349130" y="-835479"/>
            <a:ext cx="3581128" cy="3581128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FF0A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2385604"/>
            <a:ext cx="8986157" cy="105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9000" spc="-225" b="true">
                <a:solidFill>
                  <a:srgbClr val="5FF0A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The policy direction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223293"/>
            <a:ext cx="16230600" cy="392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47" indent="-377824" lvl="1">
              <a:lnSpc>
                <a:spcPts val="5249"/>
              </a:lnSpc>
              <a:buFont typeface="Arial"/>
              <a:buChar char="•"/>
            </a:pPr>
            <a:r>
              <a:rPr lang="en-US" sz="3499">
                <a:solidFill>
                  <a:srgbClr val="EFF5F2"/>
                </a:solidFill>
                <a:latin typeface="Work Sans"/>
                <a:ea typeface="Work Sans"/>
                <a:cs typeface="Work Sans"/>
                <a:sym typeface="Work Sans"/>
              </a:rPr>
              <a:t>30% of all new vehicle sales to be NEVs by 2030. </a:t>
            </a:r>
          </a:p>
          <a:p>
            <a:pPr algn="just" marL="755647" indent="-377824" lvl="1">
              <a:lnSpc>
                <a:spcPts val="5249"/>
              </a:lnSpc>
              <a:buFont typeface="Arial"/>
              <a:buChar char="•"/>
            </a:pPr>
            <a:r>
              <a:rPr lang="en-US" sz="3499">
                <a:solidFill>
                  <a:srgbClr val="EFF5F2"/>
                </a:solidFill>
                <a:latin typeface="Work Sans"/>
                <a:ea typeface="Work Sans"/>
                <a:cs typeface="Work Sans"/>
                <a:sym typeface="Work Sans"/>
              </a:rPr>
              <a:t>50% of new vehicle sales to be NEVs by 2040. </a:t>
            </a:r>
          </a:p>
          <a:p>
            <a:pPr algn="just" marL="755647" indent="-377824" lvl="1">
              <a:lnSpc>
                <a:spcPts val="5249"/>
              </a:lnSpc>
              <a:buFont typeface="Arial"/>
              <a:buChar char="•"/>
            </a:pPr>
            <a:r>
              <a:rPr lang="en-US" sz="3499">
                <a:solidFill>
                  <a:srgbClr val="EFF5F2"/>
                </a:solidFill>
                <a:latin typeface="Work Sans"/>
                <a:ea typeface="Work Sans"/>
                <a:cs typeface="Work Sans"/>
                <a:sym typeface="Work Sans"/>
              </a:rPr>
              <a:t>100%</a:t>
            </a:r>
            <a:r>
              <a:rPr lang="en-US" sz="3499">
                <a:solidFill>
                  <a:srgbClr val="EFF5F2"/>
                </a:solidFill>
                <a:latin typeface="Work Sans"/>
                <a:ea typeface="Work Sans"/>
                <a:cs typeface="Work Sans"/>
                <a:sym typeface="Work Sans"/>
              </a:rPr>
              <a:t> of new vehicle sales to be NEVs by 2050. </a:t>
            </a:r>
          </a:p>
          <a:p>
            <a:pPr algn="just" marL="755647" indent="-377824" lvl="1">
              <a:lnSpc>
                <a:spcPts val="5249"/>
              </a:lnSpc>
              <a:buFont typeface="Arial"/>
              <a:buChar char="•"/>
            </a:pPr>
            <a:r>
              <a:rPr lang="en-US" sz="3499">
                <a:solidFill>
                  <a:srgbClr val="EFF5F2"/>
                </a:solidFill>
                <a:latin typeface="Work Sans"/>
                <a:ea typeface="Work Sans"/>
                <a:cs typeface="Work Sans"/>
                <a:sym typeface="Work Sans"/>
              </a:rPr>
              <a:t>100% Zero-Emission Vehicle (ZEV) fleet targeted by 2060. </a:t>
            </a:r>
          </a:p>
          <a:p>
            <a:pPr algn="just" marL="755647" indent="-377824" lvl="1">
              <a:lnSpc>
                <a:spcPts val="5249"/>
              </a:lnSpc>
              <a:buFont typeface="Arial"/>
              <a:buChar char="•"/>
            </a:pPr>
            <a:r>
              <a:rPr lang="en-US" sz="3499">
                <a:solidFill>
                  <a:srgbClr val="EFF5F2"/>
                </a:solidFill>
                <a:latin typeface="Work Sans"/>
                <a:ea typeface="Work Sans"/>
                <a:cs typeface="Work Sans"/>
                <a:sym typeface="Work Sans"/>
              </a:rPr>
              <a:t>3,000 public charging stations planned nationwide by 2030.  </a:t>
            </a:r>
          </a:p>
          <a:p>
            <a:pPr algn="just">
              <a:lnSpc>
                <a:spcPts val="524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47240" y="652409"/>
            <a:ext cx="10793520" cy="2681341"/>
            <a:chOff x="0" y="0"/>
            <a:chExt cx="3154313" cy="7835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54313" cy="783599"/>
            </a:xfrm>
            <a:custGeom>
              <a:avLst/>
              <a:gdLst/>
              <a:ahLst/>
              <a:cxnLst/>
              <a:rect r="r" b="b" t="t" l="l"/>
              <a:pathLst>
                <a:path h="783599" w="3154313">
                  <a:moveTo>
                    <a:pt x="22953" y="0"/>
                  </a:moveTo>
                  <a:lnTo>
                    <a:pt x="3131360" y="0"/>
                  </a:lnTo>
                  <a:cubicBezTo>
                    <a:pt x="3144037" y="0"/>
                    <a:pt x="3154313" y="10276"/>
                    <a:pt x="3154313" y="22953"/>
                  </a:cubicBezTo>
                  <a:lnTo>
                    <a:pt x="3154313" y="760646"/>
                  </a:lnTo>
                  <a:cubicBezTo>
                    <a:pt x="3154313" y="773323"/>
                    <a:pt x="3144037" y="783599"/>
                    <a:pt x="3131360" y="783599"/>
                  </a:cubicBezTo>
                  <a:lnTo>
                    <a:pt x="22953" y="783599"/>
                  </a:lnTo>
                  <a:cubicBezTo>
                    <a:pt x="16865" y="783599"/>
                    <a:pt x="11027" y="781181"/>
                    <a:pt x="6723" y="776876"/>
                  </a:cubicBezTo>
                  <a:cubicBezTo>
                    <a:pt x="2418" y="772572"/>
                    <a:pt x="0" y="766734"/>
                    <a:pt x="0" y="760646"/>
                  </a:cubicBezTo>
                  <a:lnTo>
                    <a:pt x="0" y="22953"/>
                  </a:lnTo>
                  <a:cubicBezTo>
                    <a:pt x="0" y="10276"/>
                    <a:pt x="10276" y="0"/>
                    <a:pt x="22953" y="0"/>
                  </a:cubicBezTo>
                  <a:close/>
                </a:path>
              </a:pathLst>
            </a:custGeom>
            <a:ln w="38100" cap="rnd">
              <a:solidFill>
                <a:srgbClr val="5FF0A7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154313" cy="840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259300" y="-642257"/>
            <a:ext cx="1670957" cy="167095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FF0A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638342" y="-642257"/>
            <a:ext cx="1670957" cy="167095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FF0A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650921" y="1535897"/>
            <a:ext cx="8986157" cy="1352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59"/>
              </a:lnSpc>
            </a:pPr>
            <a:r>
              <a:rPr lang="en-US" b="true" sz="11699" spc="-292">
                <a:solidFill>
                  <a:srgbClr val="5FF0A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Vision &amp; Mission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06868" y="3800893"/>
            <a:ext cx="11117187" cy="1497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06"/>
              </a:lnSpc>
              <a:spcBef>
                <a:spcPct val="0"/>
              </a:spcBef>
            </a:pPr>
            <a:r>
              <a:rPr lang="en-US" sz="886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“The Poor Man’s EV”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89304" y="5449076"/>
            <a:ext cx="615231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5FF0A7"/>
                </a:solidFill>
                <a:latin typeface="Work Sans"/>
                <a:ea typeface="Work Sans"/>
                <a:cs typeface="Work Sans"/>
                <a:sym typeface="Work Sans"/>
              </a:rPr>
              <a:t>Affordable, Practical and Electric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6232739" cy="8229600"/>
            <a:chOff x="0" y="0"/>
            <a:chExt cx="1821464" cy="24050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21464" cy="2405030"/>
            </a:xfrm>
            <a:custGeom>
              <a:avLst/>
              <a:gdLst/>
              <a:ahLst/>
              <a:cxnLst/>
              <a:rect r="r" b="b" t="t" l="l"/>
              <a:pathLst>
                <a:path h="2405030" w="1821464">
                  <a:moveTo>
                    <a:pt x="39748" y="0"/>
                  </a:moveTo>
                  <a:lnTo>
                    <a:pt x="1781716" y="0"/>
                  </a:lnTo>
                  <a:cubicBezTo>
                    <a:pt x="1792258" y="0"/>
                    <a:pt x="1802368" y="4188"/>
                    <a:pt x="1809822" y="11642"/>
                  </a:cubicBezTo>
                  <a:cubicBezTo>
                    <a:pt x="1817276" y="19096"/>
                    <a:pt x="1821464" y="29206"/>
                    <a:pt x="1821464" y="39748"/>
                  </a:cubicBezTo>
                  <a:lnTo>
                    <a:pt x="1821464" y="2365281"/>
                  </a:lnTo>
                  <a:cubicBezTo>
                    <a:pt x="1821464" y="2387234"/>
                    <a:pt x="1803668" y="2405030"/>
                    <a:pt x="1781716" y="2405030"/>
                  </a:cubicBezTo>
                  <a:lnTo>
                    <a:pt x="39748" y="2405030"/>
                  </a:lnTo>
                  <a:cubicBezTo>
                    <a:pt x="29206" y="2405030"/>
                    <a:pt x="19096" y="2400842"/>
                    <a:pt x="11642" y="2393388"/>
                  </a:cubicBezTo>
                  <a:cubicBezTo>
                    <a:pt x="4188" y="2385933"/>
                    <a:pt x="0" y="2375823"/>
                    <a:pt x="0" y="2365281"/>
                  </a:cubicBezTo>
                  <a:lnTo>
                    <a:pt x="0" y="39748"/>
                  </a:lnTo>
                  <a:cubicBezTo>
                    <a:pt x="0" y="29206"/>
                    <a:pt x="4188" y="19096"/>
                    <a:pt x="11642" y="11642"/>
                  </a:cubicBezTo>
                  <a:cubicBezTo>
                    <a:pt x="19096" y="4188"/>
                    <a:pt x="29206" y="0"/>
                    <a:pt x="39748" y="0"/>
                  </a:cubicBezTo>
                  <a:close/>
                </a:path>
              </a:pathLst>
            </a:custGeom>
            <a:ln w="38100" cap="rnd">
              <a:solidFill>
                <a:srgbClr val="5FF0A7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821464" cy="24621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68851" y="1402541"/>
            <a:ext cx="5552437" cy="7481919"/>
            <a:chOff x="0" y="0"/>
            <a:chExt cx="954501" cy="12861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4501" cy="1286192"/>
            </a:xfrm>
            <a:custGeom>
              <a:avLst/>
              <a:gdLst/>
              <a:ahLst/>
              <a:cxnLst/>
              <a:rect r="r" b="b" t="t" l="l"/>
              <a:pathLst>
                <a:path h="1286192" w="954501">
                  <a:moveTo>
                    <a:pt x="32070" y="0"/>
                  </a:moveTo>
                  <a:lnTo>
                    <a:pt x="922432" y="0"/>
                  </a:lnTo>
                  <a:cubicBezTo>
                    <a:pt x="930937" y="0"/>
                    <a:pt x="939094" y="3379"/>
                    <a:pt x="945108" y="9393"/>
                  </a:cubicBezTo>
                  <a:cubicBezTo>
                    <a:pt x="951122" y="15407"/>
                    <a:pt x="954501" y="23564"/>
                    <a:pt x="954501" y="32070"/>
                  </a:cubicBezTo>
                  <a:lnTo>
                    <a:pt x="954501" y="1254122"/>
                  </a:lnTo>
                  <a:cubicBezTo>
                    <a:pt x="954501" y="1262628"/>
                    <a:pt x="951122" y="1270785"/>
                    <a:pt x="945108" y="1276799"/>
                  </a:cubicBezTo>
                  <a:cubicBezTo>
                    <a:pt x="939094" y="1282813"/>
                    <a:pt x="930937" y="1286192"/>
                    <a:pt x="922432" y="1286192"/>
                  </a:cubicBezTo>
                  <a:lnTo>
                    <a:pt x="32070" y="1286192"/>
                  </a:lnTo>
                  <a:cubicBezTo>
                    <a:pt x="23564" y="1286192"/>
                    <a:pt x="15407" y="1282813"/>
                    <a:pt x="9393" y="1276799"/>
                  </a:cubicBezTo>
                  <a:cubicBezTo>
                    <a:pt x="3379" y="1270785"/>
                    <a:pt x="0" y="1262628"/>
                    <a:pt x="0" y="1254122"/>
                  </a:cubicBezTo>
                  <a:lnTo>
                    <a:pt x="0" y="32070"/>
                  </a:lnTo>
                  <a:cubicBezTo>
                    <a:pt x="0" y="23564"/>
                    <a:pt x="3379" y="15407"/>
                    <a:pt x="9393" y="9393"/>
                  </a:cubicBezTo>
                  <a:cubicBezTo>
                    <a:pt x="15407" y="3379"/>
                    <a:pt x="23564" y="0"/>
                    <a:pt x="3207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9882" r="0" b="-988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259300" y="-642257"/>
            <a:ext cx="1670957" cy="167095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FF0A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487082" y="8689250"/>
            <a:ext cx="2147357" cy="1138099"/>
          </a:xfrm>
          <a:custGeom>
            <a:avLst/>
            <a:gdLst/>
            <a:ahLst/>
            <a:cxnLst/>
            <a:rect r="r" b="b" t="t" l="l"/>
            <a:pathLst>
              <a:path h="1138099" w="2147357">
                <a:moveTo>
                  <a:pt x="0" y="0"/>
                </a:moveTo>
                <a:lnTo>
                  <a:pt x="2147357" y="0"/>
                </a:lnTo>
                <a:lnTo>
                  <a:pt x="2147357" y="1138100"/>
                </a:lnTo>
                <a:lnTo>
                  <a:pt x="0" y="11381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545286" y="2610802"/>
            <a:ext cx="8714014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9000" spc="-225" b="true">
                <a:solidFill>
                  <a:srgbClr val="5FF0A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Our Journey: From Idea to Reality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545286" y="4582477"/>
            <a:ext cx="8714014" cy="1283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5" indent="-259082" lvl="1">
              <a:lnSpc>
                <a:spcPts val="2520"/>
              </a:lnSpc>
              <a:buFont typeface="Arial"/>
              <a:buChar char="•"/>
            </a:pPr>
            <a:r>
              <a:rPr lang="en-US" sz="2400">
                <a:solidFill>
                  <a:srgbClr val="EFF5F2"/>
                </a:solidFill>
                <a:latin typeface="Work Sans"/>
                <a:ea typeface="Work Sans"/>
                <a:cs typeface="Work Sans"/>
                <a:sym typeface="Work Sans"/>
              </a:rPr>
              <a:t>The Idea</a:t>
            </a:r>
          </a:p>
          <a:p>
            <a:pPr algn="l" marL="518165" indent="-259082" lvl="1">
              <a:lnSpc>
                <a:spcPts val="2520"/>
              </a:lnSpc>
              <a:buFont typeface="Arial"/>
              <a:buChar char="•"/>
            </a:pPr>
            <a:r>
              <a:rPr lang="en-US" sz="2400">
                <a:solidFill>
                  <a:srgbClr val="EFF5F2"/>
                </a:solidFill>
                <a:latin typeface="Work Sans"/>
                <a:ea typeface="Work Sans"/>
                <a:cs typeface="Work Sans"/>
                <a:sym typeface="Work Sans"/>
              </a:rPr>
              <a:t>Learning &amp; Experiementation</a:t>
            </a:r>
          </a:p>
          <a:p>
            <a:pPr algn="l" marL="518165" indent="-259082" lvl="1">
              <a:lnSpc>
                <a:spcPts val="2520"/>
              </a:lnSpc>
              <a:buFont typeface="Arial"/>
              <a:buChar char="•"/>
            </a:pPr>
            <a:r>
              <a:rPr lang="en-US" sz="2400">
                <a:solidFill>
                  <a:srgbClr val="EFF5F2"/>
                </a:solidFill>
                <a:latin typeface="Work Sans"/>
                <a:ea typeface="Work Sans"/>
                <a:cs typeface="Work Sans"/>
                <a:sym typeface="Work Sans"/>
              </a:rPr>
              <a:t>First Conversion</a:t>
            </a:r>
          </a:p>
          <a:p>
            <a:pPr algn="l" marL="518165" indent="-259082" lvl="1">
              <a:lnSpc>
                <a:spcPts val="2520"/>
              </a:lnSpc>
              <a:buFont typeface="Arial"/>
              <a:buChar char="•"/>
            </a:pPr>
            <a:r>
              <a:rPr lang="en-US" sz="2400">
                <a:solidFill>
                  <a:srgbClr val="EFF5F2"/>
                </a:solidFill>
                <a:latin typeface="Work Sans"/>
                <a:ea typeface="Work Sans"/>
                <a:cs typeface="Work Sans"/>
                <a:sym typeface="Work Sans"/>
              </a:rPr>
              <a:t>Testing in the Real Word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AutoShape 3" id="3"/>
          <p:cNvSpPr/>
          <p:nvPr/>
        </p:nvSpPr>
        <p:spPr>
          <a:xfrm flipH="true" flipV="true">
            <a:off x="9486437" y="3643679"/>
            <a:ext cx="19050" cy="6005525"/>
          </a:xfrm>
          <a:prstGeom prst="line">
            <a:avLst/>
          </a:prstGeom>
          <a:ln cap="flat" w="38100">
            <a:solidFill>
              <a:srgbClr val="5FF0A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46347" y="4538764"/>
            <a:ext cx="7497653" cy="4469019"/>
          </a:xfrm>
          <a:custGeom>
            <a:avLst/>
            <a:gdLst/>
            <a:ahLst/>
            <a:cxnLst/>
            <a:rect r="r" b="b" t="t" l="l"/>
            <a:pathLst>
              <a:path h="4469019" w="7497653">
                <a:moveTo>
                  <a:pt x="0" y="0"/>
                </a:moveTo>
                <a:lnTo>
                  <a:pt x="7497653" y="0"/>
                </a:lnTo>
                <a:lnTo>
                  <a:pt x="7497653" y="4469018"/>
                </a:lnTo>
                <a:lnTo>
                  <a:pt x="0" y="44690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492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761647" y="4662638"/>
            <a:ext cx="7497653" cy="4345144"/>
          </a:xfrm>
          <a:custGeom>
            <a:avLst/>
            <a:gdLst/>
            <a:ahLst/>
            <a:cxnLst/>
            <a:rect r="r" b="b" t="t" l="l"/>
            <a:pathLst>
              <a:path h="4345144" w="7497653">
                <a:moveTo>
                  <a:pt x="0" y="0"/>
                </a:moveTo>
                <a:lnTo>
                  <a:pt x="7497653" y="0"/>
                </a:lnTo>
                <a:lnTo>
                  <a:pt x="7497653" y="4345144"/>
                </a:lnTo>
                <a:lnTo>
                  <a:pt x="0" y="43451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505839" y="7991593"/>
            <a:ext cx="2481398" cy="595660"/>
            <a:chOff x="0" y="0"/>
            <a:chExt cx="653537" cy="1568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53537" cy="156882"/>
            </a:xfrm>
            <a:custGeom>
              <a:avLst/>
              <a:gdLst/>
              <a:ahLst/>
              <a:cxnLst/>
              <a:rect r="r" b="b" t="t" l="l"/>
              <a:pathLst>
                <a:path h="156882" w="653537">
                  <a:moveTo>
                    <a:pt x="78441" y="0"/>
                  </a:moveTo>
                  <a:lnTo>
                    <a:pt x="575096" y="0"/>
                  </a:lnTo>
                  <a:cubicBezTo>
                    <a:pt x="595900" y="0"/>
                    <a:pt x="615852" y="8264"/>
                    <a:pt x="630562" y="22975"/>
                  </a:cubicBezTo>
                  <a:cubicBezTo>
                    <a:pt x="645273" y="37685"/>
                    <a:pt x="653537" y="57637"/>
                    <a:pt x="653537" y="78441"/>
                  </a:cubicBezTo>
                  <a:lnTo>
                    <a:pt x="653537" y="78441"/>
                  </a:lnTo>
                  <a:cubicBezTo>
                    <a:pt x="653537" y="121763"/>
                    <a:pt x="618418" y="156882"/>
                    <a:pt x="575096" y="156882"/>
                  </a:cubicBezTo>
                  <a:lnTo>
                    <a:pt x="78441" y="156882"/>
                  </a:lnTo>
                  <a:cubicBezTo>
                    <a:pt x="35119" y="156882"/>
                    <a:pt x="0" y="121763"/>
                    <a:pt x="0" y="78441"/>
                  </a:cubicBezTo>
                  <a:lnTo>
                    <a:pt x="0" y="78441"/>
                  </a:lnTo>
                  <a:cubicBezTo>
                    <a:pt x="0" y="35119"/>
                    <a:pt x="35119" y="0"/>
                    <a:pt x="7844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653537" cy="214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1428750"/>
            <a:ext cx="16953574" cy="229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79"/>
              </a:lnSpc>
            </a:pPr>
            <a:r>
              <a:rPr lang="en-US" b="true" sz="10599" spc="-264">
                <a:solidFill>
                  <a:srgbClr val="5FF0A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Our Product: Pakistan’s first EV suzuki mehran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606879"/>
            <a:ext cx="16230600" cy="9073243"/>
            <a:chOff x="0" y="0"/>
            <a:chExt cx="4743253" cy="26515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43253" cy="2651577"/>
            </a:xfrm>
            <a:custGeom>
              <a:avLst/>
              <a:gdLst/>
              <a:ahLst/>
              <a:cxnLst/>
              <a:rect r="r" b="b" t="t" l="l"/>
              <a:pathLst>
                <a:path h="2651577" w="4743253">
                  <a:moveTo>
                    <a:pt x="15264" y="0"/>
                  </a:moveTo>
                  <a:lnTo>
                    <a:pt x="4727989" y="0"/>
                  </a:lnTo>
                  <a:cubicBezTo>
                    <a:pt x="4732038" y="0"/>
                    <a:pt x="4735920" y="1608"/>
                    <a:pt x="4738782" y="4471"/>
                  </a:cubicBezTo>
                  <a:cubicBezTo>
                    <a:pt x="4741645" y="7333"/>
                    <a:pt x="4743253" y="11216"/>
                    <a:pt x="4743253" y="15264"/>
                  </a:cubicBezTo>
                  <a:lnTo>
                    <a:pt x="4743253" y="2636313"/>
                  </a:lnTo>
                  <a:cubicBezTo>
                    <a:pt x="4743253" y="2644743"/>
                    <a:pt x="4736419" y="2651577"/>
                    <a:pt x="4727989" y="2651577"/>
                  </a:cubicBezTo>
                  <a:lnTo>
                    <a:pt x="15264" y="2651577"/>
                  </a:lnTo>
                  <a:cubicBezTo>
                    <a:pt x="11216" y="2651577"/>
                    <a:pt x="7333" y="2649969"/>
                    <a:pt x="4471" y="2647106"/>
                  </a:cubicBezTo>
                  <a:cubicBezTo>
                    <a:pt x="1608" y="2644244"/>
                    <a:pt x="0" y="2640362"/>
                    <a:pt x="0" y="2636313"/>
                  </a:cubicBezTo>
                  <a:lnTo>
                    <a:pt x="0" y="15264"/>
                  </a:lnTo>
                  <a:cubicBezTo>
                    <a:pt x="0" y="11216"/>
                    <a:pt x="1608" y="7333"/>
                    <a:pt x="4471" y="4471"/>
                  </a:cubicBezTo>
                  <a:cubicBezTo>
                    <a:pt x="7333" y="1608"/>
                    <a:pt x="11216" y="0"/>
                    <a:pt x="15264" y="0"/>
                  </a:cubicBezTo>
                  <a:close/>
                </a:path>
              </a:pathLst>
            </a:custGeom>
            <a:ln w="38100" cap="rnd">
              <a:solidFill>
                <a:srgbClr val="5FF0A7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743253" cy="27087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888921" y="1362075"/>
            <a:ext cx="10510157" cy="1983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9000" spc="-225">
                <a:solidFill>
                  <a:srgbClr val="5FF0A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 The Roadblocks Behind Rapid Velocity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-642257" y="-642257"/>
            <a:ext cx="1670957" cy="167095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FF0A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452521" y="8190139"/>
            <a:ext cx="1670957" cy="167095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FF0A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600200" y="9258300"/>
            <a:ext cx="1325880" cy="702716"/>
          </a:xfrm>
          <a:custGeom>
            <a:avLst/>
            <a:gdLst/>
            <a:ahLst/>
            <a:cxnLst/>
            <a:rect r="r" b="b" t="t" l="l"/>
            <a:pathLst>
              <a:path h="702716" w="1325880">
                <a:moveTo>
                  <a:pt x="0" y="0"/>
                </a:moveTo>
                <a:lnTo>
                  <a:pt x="1325880" y="0"/>
                </a:lnTo>
                <a:lnTo>
                  <a:pt x="1325880" y="702716"/>
                </a:lnTo>
                <a:lnTo>
                  <a:pt x="0" y="7027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3809365"/>
            <a:ext cx="16230600" cy="490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5FF0A7"/>
                </a:solidFill>
                <a:latin typeface="Work Sans"/>
                <a:ea typeface="Work Sans"/>
                <a:cs typeface="Work Sans"/>
                <a:sym typeface="Work Sans"/>
              </a:rPr>
              <a:t>High imp</a:t>
            </a:r>
            <a:r>
              <a:rPr lang="en-US" sz="3999">
                <a:solidFill>
                  <a:srgbClr val="5FF0A7"/>
                </a:solidFill>
                <a:latin typeface="Work Sans"/>
                <a:ea typeface="Work Sans"/>
                <a:cs typeface="Work Sans"/>
                <a:sym typeface="Work Sans"/>
              </a:rPr>
              <a:t>ort taxes on EV components.</a:t>
            </a:r>
          </a:p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5FF0A7"/>
                </a:solidFill>
                <a:latin typeface="Work Sans"/>
                <a:ea typeface="Work Sans"/>
                <a:cs typeface="Work Sans"/>
                <a:sym typeface="Work Sans"/>
              </a:rPr>
              <a:t>Limited availability of EV parts in Pakistan.</a:t>
            </a:r>
          </a:p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5FF0A7"/>
                </a:solidFill>
                <a:latin typeface="Work Sans"/>
                <a:ea typeface="Work Sans"/>
                <a:cs typeface="Work Sans"/>
                <a:sym typeface="Work Sans"/>
              </a:rPr>
              <a:t>Technical difficulties during vehicle conversion.</a:t>
            </a:r>
          </a:p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5FF0A7"/>
                </a:solidFill>
                <a:latin typeface="Work Sans"/>
                <a:ea typeface="Work Sans"/>
                <a:cs typeface="Work Sans"/>
                <a:sym typeface="Work Sans"/>
              </a:rPr>
              <a:t>Budget and resource constraints.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</a:p>
          <a:p>
            <a:pPr algn="l">
              <a:lnSpc>
                <a:spcPts val="5599"/>
              </a:lnSpc>
              <a:spcBef>
                <a:spcPct val="0"/>
              </a:spcBef>
            </a:pPr>
          </a:p>
          <a:p>
            <a:pPr algn="l">
              <a:lnSpc>
                <a:spcPts val="55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606879"/>
            <a:ext cx="16230600" cy="9073243"/>
            <a:chOff x="0" y="0"/>
            <a:chExt cx="4743253" cy="26515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43253" cy="2651577"/>
            </a:xfrm>
            <a:custGeom>
              <a:avLst/>
              <a:gdLst/>
              <a:ahLst/>
              <a:cxnLst/>
              <a:rect r="r" b="b" t="t" l="l"/>
              <a:pathLst>
                <a:path h="2651577" w="4743253">
                  <a:moveTo>
                    <a:pt x="15264" y="0"/>
                  </a:moveTo>
                  <a:lnTo>
                    <a:pt x="4727989" y="0"/>
                  </a:lnTo>
                  <a:cubicBezTo>
                    <a:pt x="4732038" y="0"/>
                    <a:pt x="4735920" y="1608"/>
                    <a:pt x="4738782" y="4471"/>
                  </a:cubicBezTo>
                  <a:cubicBezTo>
                    <a:pt x="4741645" y="7333"/>
                    <a:pt x="4743253" y="11216"/>
                    <a:pt x="4743253" y="15264"/>
                  </a:cubicBezTo>
                  <a:lnTo>
                    <a:pt x="4743253" y="2636313"/>
                  </a:lnTo>
                  <a:cubicBezTo>
                    <a:pt x="4743253" y="2644743"/>
                    <a:pt x="4736419" y="2651577"/>
                    <a:pt x="4727989" y="2651577"/>
                  </a:cubicBezTo>
                  <a:lnTo>
                    <a:pt x="15264" y="2651577"/>
                  </a:lnTo>
                  <a:cubicBezTo>
                    <a:pt x="11216" y="2651577"/>
                    <a:pt x="7333" y="2649969"/>
                    <a:pt x="4471" y="2647106"/>
                  </a:cubicBezTo>
                  <a:cubicBezTo>
                    <a:pt x="1608" y="2644244"/>
                    <a:pt x="0" y="2640362"/>
                    <a:pt x="0" y="2636313"/>
                  </a:cubicBezTo>
                  <a:lnTo>
                    <a:pt x="0" y="15264"/>
                  </a:lnTo>
                  <a:cubicBezTo>
                    <a:pt x="0" y="11216"/>
                    <a:pt x="1608" y="7333"/>
                    <a:pt x="4471" y="4471"/>
                  </a:cubicBezTo>
                  <a:cubicBezTo>
                    <a:pt x="7333" y="1608"/>
                    <a:pt x="11216" y="0"/>
                    <a:pt x="15264" y="0"/>
                  </a:cubicBezTo>
                  <a:close/>
                </a:path>
              </a:pathLst>
            </a:custGeom>
            <a:ln w="38100" cap="rnd">
              <a:solidFill>
                <a:srgbClr val="5FF0A7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743253" cy="27087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888921" y="1362075"/>
            <a:ext cx="10510157" cy="105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9000" spc="-225">
                <a:solidFill>
                  <a:srgbClr val="5FF0A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Future Plans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-642257" y="-642257"/>
            <a:ext cx="1670957" cy="167095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FF0A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452521" y="8190139"/>
            <a:ext cx="1670957" cy="167095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FF0A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600200" y="9258300"/>
            <a:ext cx="1325880" cy="702716"/>
          </a:xfrm>
          <a:custGeom>
            <a:avLst/>
            <a:gdLst/>
            <a:ahLst/>
            <a:cxnLst/>
            <a:rect r="r" b="b" t="t" l="l"/>
            <a:pathLst>
              <a:path h="702716" w="1325880">
                <a:moveTo>
                  <a:pt x="0" y="0"/>
                </a:moveTo>
                <a:lnTo>
                  <a:pt x="1325880" y="0"/>
                </a:lnTo>
                <a:lnTo>
                  <a:pt x="1325880" y="702716"/>
                </a:lnTo>
                <a:lnTo>
                  <a:pt x="0" y="7027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3809365"/>
            <a:ext cx="16230600" cy="279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5FF0A7"/>
                </a:solidFill>
                <a:latin typeface="Work Sans"/>
                <a:ea typeface="Work Sans"/>
                <a:cs typeface="Work Sans"/>
                <a:sym typeface="Work Sans"/>
              </a:rPr>
              <a:t>Swapable Batteries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5FF0A7"/>
                </a:solidFill>
                <a:latin typeface="Work Sans"/>
                <a:ea typeface="Work Sans"/>
                <a:cs typeface="Work Sans"/>
                <a:sym typeface="Work Sans"/>
              </a:rPr>
              <a:t>Sodium Batteries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5FF0A7"/>
                </a:solidFill>
                <a:latin typeface="Work Sans"/>
                <a:ea typeface="Work Sans"/>
                <a:cs typeface="Work Sans"/>
                <a:sym typeface="Work Sans"/>
              </a:rPr>
              <a:t>Vehicle to Grid </a:t>
            </a:r>
          </a:p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5FF0A7"/>
                </a:solidFill>
                <a:latin typeface="Work Sans"/>
                <a:ea typeface="Work Sans"/>
                <a:cs typeface="Work Sans"/>
                <a:sym typeface="Work Sans"/>
              </a:rPr>
              <a:t>G2G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259300" y="-642257"/>
            <a:ext cx="1670957" cy="1670957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FF0A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3314700"/>
            <a:ext cx="3315670" cy="5993711"/>
          </a:xfrm>
          <a:custGeom>
            <a:avLst/>
            <a:gdLst/>
            <a:ahLst/>
            <a:cxnLst/>
            <a:rect r="r" b="b" t="t" l="l"/>
            <a:pathLst>
              <a:path h="5993711" w="3315670">
                <a:moveTo>
                  <a:pt x="0" y="0"/>
                </a:moveTo>
                <a:lnTo>
                  <a:pt x="3315670" y="0"/>
                </a:lnTo>
                <a:lnTo>
                  <a:pt x="3315670" y="5993711"/>
                </a:lnTo>
                <a:lnTo>
                  <a:pt x="0" y="59937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707002" y="3323052"/>
            <a:ext cx="3530080" cy="5985358"/>
          </a:xfrm>
          <a:custGeom>
            <a:avLst/>
            <a:gdLst/>
            <a:ahLst/>
            <a:cxnLst/>
            <a:rect r="r" b="b" t="t" l="l"/>
            <a:pathLst>
              <a:path h="5985358" w="3530080">
                <a:moveTo>
                  <a:pt x="0" y="0"/>
                </a:moveTo>
                <a:lnTo>
                  <a:pt x="3530080" y="0"/>
                </a:lnTo>
                <a:lnTo>
                  <a:pt x="3530080" y="5985359"/>
                </a:lnTo>
                <a:lnTo>
                  <a:pt x="0" y="59853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570457" y="3285525"/>
            <a:ext cx="7719643" cy="5972775"/>
          </a:xfrm>
          <a:custGeom>
            <a:avLst/>
            <a:gdLst/>
            <a:ahLst/>
            <a:cxnLst/>
            <a:rect r="r" b="b" t="t" l="l"/>
            <a:pathLst>
              <a:path h="5972775" w="7719643">
                <a:moveTo>
                  <a:pt x="0" y="0"/>
                </a:moveTo>
                <a:lnTo>
                  <a:pt x="7719643" y="0"/>
                </a:lnTo>
                <a:lnTo>
                  <a:pt x="7719643" y="5972775"/>
                </a:lnTo>
                <a:lnTo>
                  <a:pt x="0" y="59727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846" t="0" r="-5125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213450" y="1211426"/>
            <a:ext cx="8714014" cy="173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b="true" sz="15000" spc="-375">
                <a:solidFill>
                  <a:srgbClr val="5FF0A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HiGHlIghts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27144" y="3282123"/>
            <a:ext cx="9233712" cy="521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00"/>
              </a:lnSpc>
            </a:pPr>
            <a:r>
              <a:rPr lang="en-US" b="true" sz="24000" spc="-600">
                <a:solidFill>
                  <a:srgbClr val="5FF0A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thank</a:t>
            </a:r>
          </a:p>
          <a:p>
            <a:pPr algn="ctr">
              <a:lnSpc>
                <a:spcPts val="19200"/>
              </a:lnSpc>
            </a:pPr>
            <a:r>
              <a:rPr lang="en-US" b="true" sz="24000" spc="-600">
                <a:solidFill>
                  <a:srgbClr val="5FF0A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1028700"/>
            <a:ext cx="1408820" cy="352205"/>
          </a:xfrm>
          <a:custGeom>
            <a:avLst/>
            <a:gdLst/>
            <a:ahLst/>
            <a:cxnLst/>
            <a:rect r="r" b="b" t="t" l="l"/>
            <a:pathLst>
              <a:path h="352205" w="1408820">
                <a:moveTo>
                  <a:pt x="0" y="0"/>
                </a:moveTo>
                <a:lnTo>
                  <a:pt x="1408820" y="0"/>
                </a:lnTo>
                <a:lnTo>
                  <a:pt x="1408820" y="352205"/>
                </a:lnTo>
                <a:lnTo>
                  <a:pt x="0" y="352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50480" y="1028700"/>
            <a:ext cx="1408820" cy="352205"/>
          </a:xfrm>
          <a:custGeom>
            <a:avLst/>
            <a:gdLst/>
            <a:ahLst/>
            <a:cxnLst/>
            <a:rect r="r" b="b" t="t" l="l"/>
            <a:pathLst>
              <a:path h="352205" w="1408820">
                <a:moveTo>
                  <a:pt x="0" y="0"/>
                </a:moveTo>
                <a:lnTo>
                  <a:pt x="1408820" y="0"/>
                </a:lnTo>
                <a:lnTo>
                  <a:pt x="1408820" y="352205"/>
                </a:lnTo>
                <a:lnTo>
                  <a:pt x="0" y="352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291725" y="1288544"/>
            <a:ext cx="521955" cy="797431"/>
          </a:xfrm>
          <a:custGeom>
            <a:avLst/>
            <a:gdLst/>
            <a:ahLst/>
            <a:cxnLst/>
            <a:rect r="r" b="b" t="t" l="l"/>
            <a:pathLst>
              <a:path h="797431" w="521955">
                <a:moveTo>
                  <a:pt x="0" y="0"/>
                </a:moveTo>
                <a:lnTo>
                  <a:pt x="521955" y="0"/>
                </a:lnTo>
                <a:lnTo>
                  <a:pt x="521955" y="797431"/>
                </a:lnTo>
                <a:lnTo>
                  <a:pt x="0" y="7974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145136" y="1459295"/>
            <a:ext cx="2851139" cy="398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EFF5F2"/>
                </a:solidFill>
                <a:latin typeface="Work Sans"/>
                <a:ea typeface="Work Sans"/>
                <a:cs typeface="Work Sans"/>
                <a:sym typeface="Work Sans"/>
              </a:rPr>
              <a:t>Thynk</a:t>
            </a:r>
            <a:r>
              <a:rPr lang="en-US" sz="2300">
                <a:solidFill>
                  <a:srgbClr val="EFF5F2"/>
                </a:solidFill>
                <a:latin typeface="Work Sans"/>
                <a:ea typeface="Work Sans"/>
                <a:cs typeface="Work Sans"/>
                <a:sym typeface="Work Sans"/>
              </a:rPr>
              <a:t> Unlimited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8492298"/>
            <a:ext cx="16230600" cy="2088669"/>
            <a:chOff x="0" y="0"/>
            <a:chExt cx="4743253" cy="6103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43253" cy="610395"/>
            </a:xfrm>
            <a:custGeom>
              <a:avLst/>
              <a:gdLst/>
              <a:ahLst/>
              <a:cxnLst/>
              <a:rect r="r" b="b" t="t" l="l"/>
              <a:pathLst>
                <a:path h="610395" w="4743253">
                  <a:moveTo>
                    <a:pt x="15264" y="0"/>
                  </a:moveTo>
                  <a:lnTo>
                    <a:pt x="4727989" y="0"/>
                  </a:lnTo>
                  <a:cubicBezTo>
                    <a:pt x="4732038" y="0"/>
                    <a:pt x="4735920" y="1608"/>
                    <a:pt x="4738782" y="4471"/>
                  </a:cubicBezTo>
                  <a:cubicBezTo>
                    <a:pt x="4741645" y="7333"/>
                    <a:pt x="4743253" y="11216"/>
                    <a:pt x="4743253" y="15264"/>
                  </a:cubicBezTo>
                  <a:lnTo>
                    <a:pt x="4743253" y="595132"/>
                  </a:lnTo>
                  <a:cubicBezTo>
                    <a:pt x="4743253" y="599180"/>
                    <a:pt x="4741645" y="603062"/>
                    <a:pt x="4738782" y="605925"/>
                  </a:cubicBezTo>
                  <a:cubicBezTo>
                    <a:pt x="4735920" y="608787"/>
                    <a:pt x="4732038" y="610395"/>
                    <a:pt x="4727989" y="610395"/>
                  </a:cubicBezTo>
                  <a:lnTo>
                    <a:pt x="15264" y="610395"/>
                  </a:lnTo>
                  <a:cubicBezTo>
                    <a:pt x="11216" y="610395"/>
                    <a:pt x="7333" y="608787"/>
                    <a:pt x="4471" y="605925"/>
                  </a:cubicBezTo>
                  <a:cubicBezTo>
                    <a:pt x="1608" y="603062"/>
                    <a:pt x="0" y="599180"/>
                    <a:pt x="0" y="595132"/>
                  </a:cubicBezTo>
                  <a:lnTo>
                    <a:pt x="0" y="15264"/>
                  </a:lnTo>
                  <a:cubicBezTo>
                    <a:pt x="0" y="11216"/>
                    <a:pt x="1608" y="7333"/>
                    <a:pt x="4471" y="4471"/>
                  </a:cubicBezTo>
                  <a:cubicBezTo>
                    <a:pt x="7333" y="1608"/>
                    <a:pt x="11216" y="0"/>
                    <a:pt x="15264" y="0"/>
                  </a:cubicBezTo>
                  <a:close/>
                </a:path>
              </a:pathLst>
            </a:custGeom>
            <a:ln w="38100" cap="rnd">
              <a:solidFill>
                <a:srgbClr val="5FF0A7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743253" cy="667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DAHVeopruTM</dc:identifier>
  <dcterms:modified xsi:type="dcterms:W3CDTF">2011-08-01T06:04:30Z</dcterms:modified>
  <cp:revision>1</cp:revision>
  <dc:title>Electric Vehicles</dc:title>
</cp:coreProperties>
</file>